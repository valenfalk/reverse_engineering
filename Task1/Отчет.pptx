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67" r:id="rId2"/>
    <p:sldId id="280" r:id="rId3"/>
    <p:sldId id="281" r:id="rId4"/>
    <p:sldId id="282" r:id="rId5"/>
    <p:sldId id="283" r:id="rId6"/>
    <p:sldId id="314" r:id="rId7"/>
    <p:sldId id="315" r:id="rId8"/>
    <p:sldId id="306" r:id="rId9"/>
    <p:sldId id="316" r:id="rId10"/>
    <p:sldId id="317" r:id="rId11"/>
    <p:sldId id="324" r:id="rId12"/>
    <p:sldId id="318" r:id="rId13"/>
    <p:sldId id="319" r:id="rId14"/>
    <p:sldId id="325" r:id="rId15"/>
    <p:sldId id="320" r:id="rId16"/>
    <p:sldId id="321" r:id="rId17"/>
    <p:sldId id="326" r:id="rId18"/>
    <p:sldId id="322" r:id="rId19"/>
    <p:sldId id="323" r:id="rId20"/>
    <p:sldId id="309" r:id="rId21"/>
    <p:sldId id="310" r:id="rId22"/>
  </p:sldIdLst>
  <p:sldSz cx="12192000" cy="6858000"/>
  <p:notesSz cx="6858000" cy="9144000"/>
  <p:embeddedFontLst>
    <p:embeddedFont>
      <p:font typeface="等线" panose="02010600030101010101" pitchFamily="2" charset="-122"/>
      <p:regular r:id="rId24"/>
    </p:embeddedFont>
    <p:embeddedFont>
      <p:font typeface="Akrobat" panose="020B0604020202020204" charset="-52"/>
      <p:regular r:id="rId25"/>
      <p:bold r:id="rId26"/>
    </p:embeddedFont>
    <p:embeddedFont>
      <p:font typeface="Akrobat Black" panose="020B0604020202020204" charset="-52"/>
      <p:bold r:id="rId27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2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2D6E"/>
    <a:srgbClr val="C33674"/>
    <a:srgbClr val="440EA5"/>
    <a:srgbClr val="1604C0"/>
    <a:srgbClr val="3536B0"/>
    <a:srgbClr val="063971"/>
    <a:srgbClr val="8B19A3"/>
    <a:srgbClr val="7D1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0T19:56:56.110" idx="2">
    <p:pos x="7680" y="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D24B569-3539-B230-BF23-AE29C7851C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1D6893-FF24-CCB2-32C4-6D3BAD9A3A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C8105D2D-B396-4D12-B05A-CB356EB9FD37}" type="datetimeFigureOut">
              <a:rPr lang="ru-RU"/>
              <a:pPr>
                <a:defRPr/>
              </a:pPr>
              <a:t>19.02.2026</a:t>
            </a:fld>
            <a:endParaRPr lang="ru-RU"/>
          </a:p>
        </p:txBody>
      </p:sp>
      <p:sp>
        <p:nvSpPr>
          <p:cNvPr id="2052" name="Образ слайда 3">
            <a:extLst>
              <a:ext uri="{FF2B5EF4-FFF2-40B4-BE49-F238E27FC236}">
                <a16:creationId xmlns:a16="http://schemas.microsoft.com/office/drawing/2014/main" id="{2A0D2549-88B5-1FDE-5A8F-4F379157F18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Заметки 4">
            <a:extLst>
              <a:ext uri="{FF2B5EF4-FFF2-40B4-BE49-F238E27FC236}">
                <a16:creationId xmlns:a16="http://schemas.microsoft.com/office/drawing/2014/main" id="{A8EE8950-55E1-A383-27FF-2444CD1F1461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060073-2E6A-34A2-A2EF-8897974FF6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8B15A7-9861-5AF3-1585-44B999132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254866DC-8FB9-43BC-8358-DB11DD4A82D2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9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>
            <a:extLst>
              <a:ext uri="{FF2B5EF4-FFF2-40B4-BE49-F238E27FC236}">
                <a16:creationId xmlns:a16="http://schemas.microsoft.com/office/drawing/2014/main" id="{53AAC0CF-7882-61E7-0A82-F3F5EB6329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099" name="Заметки 2">
            <a:extLst>
              <a:ext uri="{FF2B5EF4-FFF2-40B4-BE49-F238E27FC236}">
                <a16:creationId xmlns:a16="http://schemas.microsoft.com/office/drawing/2014/main" id="{0792E640-6F8F-25C6-43A9-A45C59DFA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ED53A4B-D4C9-5910-9D06-407DDBCFAF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0D141B37-D474-459C-9E0F-8C0D0EC0CEEE}" type="slidenum">
              <a:rPr altLang="zh-CN">
                <a:cs typeface="等线" panose="02010600030101010101" pitchFamily="2" charset="-122"/>
              </a:rPr>
              <a:pPr/>
              <a:t>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2136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123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971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C7A-B5AA-7C20-1A13-79850288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9B37FA23-4D0F-AD61-2CA4-6BABAC6FFE8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79EB43F-85BC-DE9C-28ED-F8577647A8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633A1BCE-F795-41D2-50A7-FDCFC39755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9258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E605-5B9A-CD87-21CE-AF144D13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FBCFE115-B3B4-8A0F-F4AF-FFDD8C0E45C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5558850B-B1A6-95FB-15A4-B4A01FABE4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FD01AAA-FDCA-89FD-3A90-5CCC33E705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1348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317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9CF3-C18D-9563-57C3-49418CB3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33C4FDFB-0B5F-47FE-0CBF-03BF6BC7C05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FDC5E20F-FA64-CC47-6FB1-3E59C658CC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9B1F25A9-9A11-F65E-D155-60E52A6E70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4416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1E51-74E8-3A3D-C278-E54D3792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C3089C0-43E0-8777-2A33-E2527A4B168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028DB1D-B46E-6D1E-66DE-40FBF0B0ED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B48ECA2-03FC-39C7-D899-E4241F586C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2688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DAE4-73AD-3966-B668-4FE8E610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1DB3E11E-9024-7458-5F8D-FE78CDAB9CF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90A39CF3-BA2E-FA03-F635-2DBE1C056C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747A1016-74E5-31CC-E8F9-2B3C47427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4482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E74D-938C-8E2C-5FF2-DD57E470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770EBE29-1F9E-FB6E-6C66-6098343AEB2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B4FF3F77-A02D-370D-9AE5-593A3092E3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87CB9098-BB3B-0D2A-6899-81B8C3585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623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1313-E672-8FA7-2A39-3AB35D1B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09765CEC-8397-2C78-0A6B-0551BCA843F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8B1ABF7-C737-C35E-1E08-CE27447403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AE2E327E-7FED-98D2-7384-3DA078187A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4183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4859-7033-C9A0-513C-0EFA36B8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F9C2F625-1FBD-4F6A-BA7E-95F5786125E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FA14969-0666-36F1-20FC-81411CFE73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BDF24532-3D9B-C8E4-7757-185790391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5069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86C1-BDE9-3B78-BA69-6CB4D530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70D1E7DF-C926-E9A5-DA0E-69152D13B7D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C717437-0803-21BF-6B8E-5543FF6305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BD179514-4FF8-3C50-DD1F-23C1AD6746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5902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7FB0F-795F-524A-9F7E-BF4ADA4C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49A312A1-AAC8-5894-A14B-8D6FD46F3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63BC559-D491-7F0A-3963-215362E6CC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ADD03C1F-740E-6563-4F02-3E43BCEADE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9747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EE60-D919-E093-36DE-3CFB4DC45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410E947E-1419-CB53-61A5-346AA4C157C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86002864-6B97-7B91-DC95-D7CE64E277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7B64A85-63B6-0E67-C69E-C5A50446EC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4064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ECEF-EA73-06C6-DE4E-C0A6B827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95CCB15E-CF28-AF24-4F33-5797E36D053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76EE406A-FE19-3237-B836-3B5D6AD1C5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DBA9188-164F-9AB7-B736-B87C479E32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4266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9F1F-80B9-0054-8DD6-EAB635B5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8B797329-3EDF-0F28-4AEA-5667D3C03B5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5E19487-0A7A-5051-A360-37782A349A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6C3F32AA-ACA3-7AB2-B571-3E65158554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910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6243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21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602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noProof="1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C2ABE4-66CA-FBAE-F148-68232618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C0F2-78E2-46FF-9166-629315525A25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58B08-277F-AB77-9678-1AEDBCA0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F25A0-106D-7220-AC99-1EF741A2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1E390-58D5-46F8-9BB8-613D346979AB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7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BCFFA-2B60-0D33-14B9-16347B97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19043-AA2D-4600-AFD8-23050D3BDC42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47434-D651-BC98-F3C1-C815E69F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54D81-F9A3-D949-4508-BDA2CA8A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1CB51-31ED-4C09-A4A0-FBB363AB4F1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2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6581E-5804-E9A8-BEE4-D751DBF2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60A03-B9C5-4FFE-B137-2043DA7076BB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EA2D86-B09A-C40A-E227-36A84CD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CF3C8-1BAC-C257-2E59-A2E06FCF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B27E-6C67-4B84-9BF5-73A4FC4A53B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9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F1E15D9-539E-A388-65EC-F517CEE3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0625-FC0F-4A55-B6A4-1B11F9D1882C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3124E61-3FD1-96D6-E3F5-B802BB45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D804349-1223-05FC-F119-C8DD8CC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B50DF-BE53-45CF-BE31-DF755AFBEC99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63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FFE1A5AB-2FA2-EB97-D7E5-F7E5D437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8771A-C258-4F7C-9C56-577225F58644}" type="datetime1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3EF1D936-1C13-FDEC-5A4A-E0C7DE19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B8405F6-1624-0D56-9C97-5CD9735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7F18C-6156-4E2E-861F-BD2D152600E4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9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83BA1D94-E263-339E-B6D3-8C777D96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4C6D7-9D43-4D0D-B6CE-B7FE888DFA5B}" type="datetime1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998661F-3D46-DDBA-9167-5453D12F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60C6424-5CF4-4407-7AC6-742C530C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2DC26D-16D0-4072-A9C2-F73E32D665E3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0ED75349-1FF2-B82C-6543-DCEA71F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D6178-225B-4E17-A144-18738C8E44D9}" type="datetime1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7CAB170-DFCE-B949-A6D5-0D7F42B6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87BA5E49-7C53-2330-E74E-5F8A12ED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D3A62-9975-49A2-A229-F36F92FB7EA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9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F7ED9EA-648B-D99B-6F59-60C1E97B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87886-C08E-438B-A97D-17C336AB888F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9528BB1-8F5B-8C4C-BE9A-08DD90C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72556A4-9548-26BD-FFCE-46025DD6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C1B95-8037-48E2-8040-416C98D7C4AD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17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1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F81C3129-2E8E-B3AC-7A10-7A051C1E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5191-32C7-4D90-A7A3-18B272EEA2FE}" type="datetime1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74E426-A57A-3682-E571-E8653EE9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3E7706F-D243-AFC6-D7C5-B162EF35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2522C-181D-4A71-8DB8-8853F49E3C2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8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2C1418-F14F-FDBD-0570-E630814B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75B1-7458-49F2-B69B-F5D94466ED9F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2D6A0-FE00-448F-58D5-B51A9F9D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1D47D-F72A-AA5D-8001-C1589EB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553FB-7ADB-41A9-B7EB-C872ABECCDF1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84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BA74B-016D-D9B8-2B0C-2B04C83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BFEF6-68F3-4A89-9AD1-5470280F4BC4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8BAF24-B361-0A1F-06CC-FA2E0B5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6F744-F544-E81F-F2B3-9AF85B83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7BF8C-8CDF-489C-9A49-5B985D2732EA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72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7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4071D2B-B61E-184E-7103-129237AF81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2020E1D-F62F-A1CE-AB98-A89265EF7B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C2C9DE-9BB2-61D7-BAB2-FCDB06158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A1AC42D-45EC-4968-A3B2-7E904D52A6B0}" type="datetime1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977651-4749-99BC-B2D3-C1DCB553A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F982E-F481-979B-A42F-EA02538FC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767676"/>
                </a:solidFill>
              </a:defRPr>
            </a:lvl1pPr>
          </a:lstStyle>
          <a:p>
            <a:fld id="{EE380E60-B8F9-48F5-9BBB-CB01B607B2F8}" type="slidenum">
              <a:rPr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1363F17F-CBF0-C3D5-6B6E-A652184CD19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Box 32">
            <a:extLst>
              <a:ext uri="{FF2B5EF4-FFF2-40B4-BE49-F238E27FC236}">
                <a16:creationId xmlns:a16="http://schemas.microsoft.com/office/drawing/2014/main" id="{3FE59A19-9F1C-000F-1058-19E9E50ADD1D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66725" y="4183063"/>
            <a:ext cx="4335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Лопатин Артём – 3 курс, ИТТСУ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Васильев Александр – 3 курс, ИТТСУ</a:t>
            </a: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FED8E283-9887-9B58-72A0-21D604CD1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6738" y="1574800"/>
            <a:ext cx="5226050" cy="1763713"/>
          </a:xfrm>
          <a:prstGeom prst="roundRect">
            <a:avLst>
              <a:gd name="adj" fmla="val 6900"/>
            </a:avLst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3077" name="TextBox 9">
            <a:extLst>
              <a:ext uri="{FF2B5EF4-FFF2-40B4-BE49-F238E27FC236}">
                <a16:creationId xmlns:a16="http://schemas.microsoft.com/office/drawing/2014/main" id="{D336DCE0-A150-5786-33EB-EF73CFE17CAC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25450" y="315913"/>
            <a:ext cx="83185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40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1 ЗАДАНИЕ Технология реверс-инжиниринга</a:t>
            </a:r>
          </a:p>
        </p:txBody>
      </p:sp>
      <p:sp>
        <p:nvSpPr>
          <p:cNvPr id="11" name="Скругленный прямоугольник 85">
            <a:extLst>
              <a:ext uri="{FF2B5EF4-FFF2-40B4-BE49-F238E27FC236}">
                <a16:creationId xmlns:a16="http://schemas.microsoft.com/office/drawing/2014/main" id="{6E3336D4-2AB6-A36C-D69B-B6C40A6250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6125" y="1754188"/>
            <a:ext cx="4867275" cy="1403350"/>
          </a:xfrm>
          <a:prstGeom prst="roundRect">
            <a:avLst>
              <a:gd name="adj" fmla="val 2771"/>
            </a:avLst>
          </a:prstGeom>
          <a:solidFill>
            <a:schemeClr val="bg1"/>
          </a:solidFill>
          <a:ln w="38100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r>
              <a:rPr lang="ru-RU" noProof="1">
                <a:solidFill>
                  <a:schemeClr val="bg1">
                    <a:lumMod val="50000"/>
                  </a:schemeClr>
                </a:solidFill>
                <a:latin typeface="Akrobat" panose="00000500000000000000" pitchFamily="50" charset="-52"/>
              </a:rPr>
              <a:t>Логотип заказчика</a:t>
            </a:r>
          </a:p>
        </p:txBody>
      </p:sp>
      <p:sp>
        <p:nvSpPr>
          <p:cNvPr id="3079" name="TextBox 11">
            <a:extLst>
              <a:ext uri="{FF2B5EF4-FFF2-40B4-BE49-F238E27FC236}">
                <a16:creationId xmlns:a16="http://schemas.microsoft.com/office/drawing/2014/main" id="{646DB2D0-077C-2581-20C0-46599ED8F0F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44500" y="3721100"/>
            <a:ext cx="329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КОМАНДА</a:t>
            </a:r>
            <a:r>
              <a:rPr lang="en-US" altLang="ru-RU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0" name="TextBox 30">
            <a:extLst>
              <a:ext uri="{FF2B5EF4-FFF2-40B4-BE49-F238E27FC236}">
                <a16:creationId xmlns:a16="http://schemas.microsoft.com/office/drawing/2014/main" id="{6484AF60-88E8-2047-B55B-15DB07E9BACC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10513" y="4176713"/>
            <a:ext cx="47672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Сидоренко Валентина Геннадьевна – проф., доктор технических наук</a:t>
            </a:r>
            <a:endParaRPr lang="en-US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C</a:t>
            </a:r>
            <a:r>
              <a:rPr lang="ru-RU" altLang="zh-CN" sz="1600" b="1" dirty="0" err="1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афронов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 Антон Игоревич – доцент, кандидат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технических наук</a:t>
            </a:r>
          </a:p>
        </p:txBody>
      </p:sp>
      <p:sp>
        <p:nvSpPr>
          <p:cNvPr id="3081" name="TextBox 17">
            <a:extLst>
              <a:ext uri="{FF2B5EF4-FFF2-40B4-BE49-F238E27FC236}">
                <a16:creationId xmlns:a16="http://schemas.microsoft.com/office/drawing/2014/main" id="{96699EB0-DEB3-FDEF-55C5-C85C4F78236F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10513" y="3721100"/>
            <a:ext cx="3625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Akrobat Black" pitchFamily="2" charset="-52"/>
                <a:cs typeface="等线" panose="02010600030101010101" pitchFamily="2" charset="-122"/>
              </a:rPr>
              <a:t>НАСТАВНИКИ</a:t>
            </a:r>
            <a:r>
              <a:rPr lang="en-US" altLang="ru-RU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2" name="TextBox 17">
            <a:extLst>
              <a:ext uri="{FF2B5EF4-FFF2-40B4-BE49-F238E27FC236}">
                <a16:creationId xmlns:a16="http://schemas.microsoft.com/office/drawing/2014/main" id="{47A7010F-C402-F5FE-942B-256C1125E89A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67663" y="4733925"/>
            <a:ext cx="3625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 b="1" dirty="0">
              <a:solidFill>
                <a:schemeClr val="bg1"/>
              </a:solidFill>
              <a:latin typeface="Akrobat Black" pitchFamily="2" charset="-5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en-US" sz="2400" b="1" dirty="0">
              <a:solidFill>
                <a:schemeClr val="bg1"/>
              </a:solidFill>
              <a:latin typeface="Akrobat Black" pitchFamily="2" charset="-5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en-US" sz="2400" b="1" dirty="0">
                <a:solidFill>
                  <a:schemeClr val="bg1"/>
                </a:solidFill>
                <a:latin typeface="Akrobat Black" pitchFamily="2" charset="-52"/>
              </a:rPr>
              <a:t>КАФЕДРА</a:t>
            </a:r>
            <a:r>
              <a:rPr lang="en-US" altLang="en-US" sz="2400" b="1" dirty="0">
                <a:solidFill>
                  <a:schemeClr val="bg1"/>
                </a:solidFill>
                <a:latin typeface="Akrobat Black" pitchFamily="2" charset="-52"/>
              </a:rPr>
              <a:t>:</a:t>
            </a:r>
            <a:endParaRPr lang="ru-RU" altLang="zh-CN" sz="2400" b="1" dirty="0">
              <a:solidFill>
                <a:schemeClr val="bg1"/>
              </a:solidFill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083" name="TextBox 30">
            <a:extLst>
              <a:ext uri="{FF2B5EF4-FFF2-40B4-BE49-F238E27FC236}">
                <a16:creationId xmlns:a16="http://schemas.microsoft.com/office/drawing/2014/main" id="{9AE757F5-A5D2-E9C3-C4CE-46719D44F22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7967663" y="5194300"/>
            <a:ext cx="47672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zh-CN" sz="1600" b="1" dirty="0">
              <a:solidFill>
                <a:schemeClr val="bg1"/>
              </a:solidFill>
              <a:latin typeface="Akrobat" pitchFamily="2" charset="-52"/>
              <a:cs typeface="等线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"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Управление и защита информации</a:t>
            </a:r>
            <a:r>
              <a:rPr lang="en-US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”</a:t>
            </a:r>
            <a:r>
              <a:rPr lang="ru-RU" altLang="zh-CN" sz="1600" b="1" dirty="0">
                <a:solidFill>
                  <a:schemeClr val="bg1"/>
                </a:solidFill>
                <a:latin typeface="Akrobat" pitchFamily="2" charset="-52"/>
                <a:cs typeface="等线" panose="02010600030101010101" pitchFamily="2" charset="-122"/>
              </a:rPr>
              <a:t> </a:t>
            </a:r>
          </a:p>
        </p:txBody>
      </p:sp>
      <p:pic>
        <p:nvPicPr>
          <p:cNvPr id="3084" name="Рисунок 1">
            <a:extLst>
              <a:ext uri="{FF2B5EF4-FFF2-40B4-BE49-F238E27FC236}">
                <a16:creationId xmlns:a16="http://schemas.microsoft.com/office/drawing/2014/main" id="{9679D281-B9CD-FBC0-D1C8-78479E3E6C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1833563"/>
            <a:ext cx="468630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Овал 38">
            <a:extLst>
              <a:ext uri="{FF2B5EF4-FFF2-40B4-BE49-F238E27FC236}">
                <a16:creationId xmlns:a16="http://schemas.microsoft.com/office/drawing/2014/main" id="{8B509149-C64E-D086-21CC-A49DD6B103B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6" name="Рисунок 33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0C66973-C85B-8AD6-C87B-9128DC86552E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43857354-F8A8-2E53-4DB3-C5F9862B009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8" name="Рисунок 27">
            <a:extLst>
              <a:ext uri="{FF2B5EF4-FFF2-40B4-BE49-F238E27FC236}">
                <a16:creationId xmlns:a16="http://schemas.microsoft.com/office/drawing/2014/main" id="{655ACD81-C1FB-0A61-CD0F-7BC66E6000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08E3B59A-D6FD-7B6C-FAA5-09773995145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90" name="Рисунок 24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D669E5-A011-257D-D60C-6023482BBD3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71FC67-D15C-4B72-B6BB-AF59EDE1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</a:t>
            </a:fld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1120140" y="449580"/>
            <a:ext cx="5113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C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5631AA-A306-4883-A03F-D11F680D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</a:t>
            </a:fld>
            <a:endParaRPr lang="ru-RU" altLang="en-US"/>
          </a:p>
        </p:txBody>
      </p:sp>
      <p:pic>
        <p:nvPicPr>
          <p:cNvPr id="5" name="Рисунок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5F6669-F001-0F19-B96C-0CFF607BC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427226"/>
            <a:ext cx="5120530" cy="511168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9CB682-9585-4AAD-C212-AB3A58E63B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429000"/>
            <a:ext cx="5464134" cy="809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02073" y="196850"/>
            <a:ext cx="10851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C#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Транслировали программу с помощью </a:t>
            </a:r>
            <a:r>
              <a:rPr lang="en-US" sz="2800" dirty="0">
                <a:solidFill>
                  <a:schemeClr val="bg1"/>
                </a:solidFill>
              </a:rPr>
              <a:t>https://www.deepseek.com/en/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E08D20-4955-4B2B-8E2E-91698E8D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3</a:t>
            </a:fld>
            <a:endParaRPr lang="ru-RU" altLang="en-US"/>
          </a:p>
        </p:txBody>
      </p:sp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6792DB-D7F9-6579-C314-859D32429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06" y="1574696"/>
            <a:ext cx="5395794" cy="4718296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Шрифт,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766336-A530-B89D-2EB3-8355147BB9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7167" y="3456669"/>
            <a:ext cx="5214627" cy="73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4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495934" y="196850"/>
            <a:ext cx="11435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 программы на языке </a:t>
            </a:r>
            <a:r>
              <a:rPr lang="en-US" sz="2800" dirty="0">
                <a:solidFill>
                  <a:schemeClr val="bg1"/>
                </a:solidFill>
              </a:rPr>
              <a:t>Python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Транслировали программу с помощью </a:t>
            </a:r>
            <a:r>
              <a:rPr lang="en-US" sz="2800" dirty="0">
                <a:solidFill>
                  <a:schemeClr val="bg1"/>
                </a:solidFill>
              </a:rPr>
              <a:t>https://www.deepseek.com/en/</a:t>
            </a:r>
            <a:endParaRPr lang="ru-RU" sz="28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4701C6E-0123-4984-B4D6-899A9F37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4</a:t>
            </a:fld>
            <a:endParaRPr lang="ru-RU" altLang="en-US"/>
          </a:p>
        </p:txBody>
      </p:sp>
      <p:pic>
        <p:nvPicPr>
          <p:cNvPr id="6" name="Рисунок 5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C638BE-41F2-E545-BDAA-BFAF265C3B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546363"/>
            <a:ext cx="6121893" cy="4860647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7A19F5-C509-54BC-75E4-0D7AD985DA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7026" y="3429000"/>
            <a:ext cx="4082458" cy="7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7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FBA6715-1EEC-4DE1-9653-C1F08806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5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DF929-5E63-4CC8-AC60-7E268D9A21BB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159FBF7-07C3-1142-3314-234253525F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21" y="175733"/>
            <a:ext cx="7590955" cy="325326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A9EB864-BC4C-BAB0-DF60-B7459F384C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142" y="2543511"/>
            <a:ext cx="3344505" cy="5750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19E6492-E374-75EC-1598-127DAAEEA1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828" y="3429000"/>
            <a:ext cx="7585097" cy="32532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E52B7CB-1F2D-4A0C-04F6-0773027ABA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513" y="5601425"/>
            <a:ext cx="2961825" cy="52986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55C3502-5F81-9511-01FC-1FCC6B34103A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файла на языке С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8F570-4F76-DC3E-96AE-2B575C058909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 С</a:t>
            </a:r>
          </a:p>
        </p:txBody>
      </p:sp>
    </p:spTree>
    <p:extLst>
      <p:ext uri="{BB962C8B-B14F-4D97-AF65-F5344CB8AC3E}">
        <p14:creationId xmlns:p14="http://schemas.microsoft.com/office/powerpoint/2010/main" val="428743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ECBC-FB62-E680-903C-2C187C0D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D40F3A4A-51FD-4368-4893-EC0B47CFD5C5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919DF6DD-9F93-3210-DA77-0877C5EEF7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0C46C33-2E32-D793-24C0-A8D054B2CE4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4F318944-B97D-5BA0-64E7-4AF5941FB8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37693EDD-351C-B200-43C1-7614DAC0459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AB079499-0F8D-267E-A3B5-C94AEDFB2B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87F01A3-F395-CE57-6FF5-A9519C68D6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AAB6586-AA23-8ED7-9C07-E452EDA1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6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C7316-7F5D-FB67-218D-A54F956ADF09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D12887-345B-10B0-3932-8AF98089B1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421" y="194162"/>
            <a:ext cx="7590955" cy="321640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747C40A-1EE6-8E96-B13C-F06F9A387B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3867" y="2543511"/>
            <a:ext cx="3321055" cy="5750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6DE33A6-7102-1714-C94F-F95E983D51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326" y="3406284"/>
            <a:ext cx="7557698" cy="327598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35F5C72-5EA7-1BD4-EDED-8DA7E6D909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513" y="5631501"/>
            <a:ext cx="2961825" cy="46971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AFBDDA0-754D-89D5-F17E-EAA06BCC3BB1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файла на языке С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0BB26A-8373-95C6-7CC8-887F4E709DB5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 С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4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9D94-06EA-DC7C-7755-28B8DF7D2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84824D3D-DFE8-4705-A4CA-8DC387615739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822646C5-1F75-BBA6-7FE6-9A42B01878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3F592CB-A9C1-10AC-9484-081BDFAF9A96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0D8F9588-DFB0-466B-1122-AFB6F1FFAC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819B8F2F-7180-3811-CE00-4F847FECFE7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2644B038-20F4-D7AE-FA24-C39AF56062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153088B-B7BE-B163-D536-6B51B31BFD1D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C33B96A-4184-B578-8E4C-3DD7F542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7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9CE32-641F-031D-A461-767AB82BB84C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9B09BB9-9164-2409-7499-D25C27DF88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648" y="194162"/>
            <a:ext cx="7518500" cy="321640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164FD0B-434B-31E3-D2CE-5187082F67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11055" y="2543511"/>
            <a:ext cx="3306678" cy="5750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1E83B55-D8EC-73EA-9A90-AC096B282C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0468" y="3410571"/>
            <a:ext cx="7552556" cy="326963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28AA0BF-A30B-0CBF-ED3D-D0A983E920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991" y="5631501"/>
            <a:ext cx="2700869" cy="46971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8E22D46-FA4A-403D-7BB1-5F80DAE95164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файла на языке </a:t>
            </a:r>
            <a:r>
              <a:rPr lang="en-US" sz="2400" dirty="0">
                <a:solidFill>
                  <a:schemeClr val="bg1"/>
                </a:solidFill>
              </a:rPr>
              <a:t>Python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57D51-DB39-46C6-B65E-2A2002099433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Python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9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Изображение в двух форматах в </a:t>
            </a:r>
            <a:r>
              <a:rPr lang="en-US" sz="2800" dirty="0">
                <a:solidFill>
                  <a:schemeClr val="bg1"/>
                </a:solidFill>
              </a:rPr>
              <a:t>.jpg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.bmp3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https://convertio.co/ru/png-bmp/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F25D3FE-AF58-4F0E-AF34-7F6C55E1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8</a:t>
            </a:fld>
            <a:endParaRPr lang="ru-RU" alt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6A26FC-9F69-0D2C-933F-AB43AE873A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66" y="1837678"/>
            <a:ext cx="7454283" cy="419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2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F6C8-14D8-F8AD-F555-9E28EFB6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52D9CD32-0109-58DD-A575-39CC817E637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E8F0B225-A237-6741-F3A9-EB7601D8E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51E4DAC-0994-D9B8-D166-11726FEEB6B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B9DF5F63-8C48-F848-12A4-611B3CFB78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596B84E5-55A3-D645-BD77-0ED6FCDB4E8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AB1C3D01-BB7D-3C72-A6D2-2D46D4DB7B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809BAAE9-6DDC-F755-38E6-3AD48164512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749EDDA-9523-392E-9C98-42E38C28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9</a:t>
            </a:fld>
            <a:endParaRPr lang="ru-RU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EFC10-1559-96DC-90CF-6914AFAE91D1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C6E3B12-0DDF-D15E-32C9-5932B481E9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8"/>
          <a:stretch>
            <a:fillRect/>
          </a:stretch>
        </p:blipFill>
        <p:spPr>
          <a:xfrm>
            <a:off x="88645" y="494742"/>
            <a:ext cx="7780755" cy="266972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AF5883-4696-D948-FADE-1703422A45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78E879-CF47-DC4D-0669-074C59669C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8350" y="3676371"/>
            <a:ext cx="7894575" cy="267316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223670-F300-5E9D-B93A-9864C8804A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118EBF8-0A68-EA95-571F-75C8153A8B63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.jpg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AA60E4-559B-D1CF-A81F-730C55529B8B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.jpg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354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FA6A-539A-12FF-93D2-AB32AA2F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D83F741E-9F71-8697-DC04-0E64027907E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1E0BEA35-85FE-3A3A-998D-0500AAD148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932B6EA-5CE0-AEC1-1A0E-0E325787ECD2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F96363-E683-0DBE-A1E1-128EA63C47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DEDE4C04-C187-198E-84B4-E49FFB8E50B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E10380EE-1841-D6E6-9DD9-A21B4B364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C662AFA6-9EF6-24B0-CE6D-54241E1E862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52EAE1-71FA-42B6-37CB-07614C5F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10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9677B-6AC3-A126-204B-F82C79B53783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E3853A-812D-33DF-4313-4A5146190A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-866" r="94" b="866"/>
          <a:stretch>
            <a:fillRect/>
          </a:stretch>
        </p:blipFill>
        <p:spPr>
          <a:xfrm>
            <a:off x="89075" y="807546"/>
            <a:ext cx="7686388" cy="207727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A647F6-3DF3-BC3C-1733-B8C70ED2CA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F61CD69-92E2-B764-3FCA-03E3327310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8350" y="3681600"/>
            <a:ext cx="7894575" cy="266270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91441F-FDB8-88F1-BB95-3692244666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0842808-1BA6-BF61-DBB7-A7BC901BC74A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.bmp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6CE612-2C84-C1C2-B716-AC4795118265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.bmp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4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00794-5224-4872-4A7C-C01B4E9B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16FDC64B-EB7E-2B63-C142-044A6E202334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32103E68-82C4-C04A-7557-0643DAFBAE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FAEBAA8-7457-7CB4-3036-AC1081B7838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4569DC5-F472-3DE8-5784-B315CB1B7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3FF05AE-47D7-4936-48F5-181C3F2BC6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AB66268D-8AB3-EE45-6463-591B479261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7DEFEF44-3470-5811-99E4-543A5D188887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6969F61-9673-92F6-89B8-144DEC27E596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Текстовый файл в форматах </a:t>
            </a:r>
            <a:r>
              <a:rPr lang="en-US" sz="2800" dirty="0">
                <a:solidFill>
                  <a:schemeClr val="bg1"/>
                </a:solidFill>
              </a:rPr>
              <a:t>.docx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.txt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https://convertio.co/ru/docx-txt/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BE8F0B0-BD31-F58E-BAC7-FB8F54EF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11</a:t>
            </a:fld>
            <a:endParaRPr lang="ru-RU" altLang="en-US"/>
          </a:p>
        </p:txBody>
      </p:sp>
      <p:pic>
        <p:nvPicPr>
          <p:cNvPr id="7" name="Рисунок 6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F2D14B-D630-6B28-E9B3-501530DF4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8136" y="1868688"/>
            <a:ext cx="3371064" cy="448766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1C9402-B5D5-FDCD-56FC-33E9E94E72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742" y="1997414"/>
            <a:ext cx="3845122" cy="42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4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BA05-86A9-37D9-A137-7FC7208B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B251DE72-B4E1-DCE9-449C-9B2219BBBE96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2011FCDB-9B75-7216-022A-E5CFA4C56B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750A9C09-CE97-F5A0-F800-2E2DFCEB632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8D0B98C-B585-9FE9-61FA-B8A2170788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9D2B696D-FCA8-244D-F3EF-7A87684C58D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0FEE59B3-D6FA-1EAA-9635-AAA450BAA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4B1273B-0925-37E1-27C3-884C8FC285D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2E2AEB-B74C-4D51-1408-084CE84B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12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D4905-4821-53DB-6B7D-91DE46777AAE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CF90E8-25F3-8ED4-A3A3-28D8BBF231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" b="-1089"/>
          <a:stretch>
            <a:fillRect/>
          </a:stretch>
        </p:blipFill>
        <p:spPr>
          <a:xfrm>
            <a:off x="89075" y="208591"/>
            <a:ext cx="7686388" cy="33158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8F32F77-2DC0-0DF5-30D8-CD64CD6E6E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133FD56-7391-AA4D-D8D1-CE39609C10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7019" y="3602527"/>
            <a:ext cx="6591707" cy="26849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CF590E9-2FA7-DC88-58DF-BF34FC479C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3945BF8-FFD5-9EFA-B3C4-E1A0C3E508D6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.docx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7FA91C-624F-C87A-D179-8290505FE937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.docx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02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9293-0D0B-7910-3C9A-64DCB22A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3D50E8B0-1E92-15D4-901B-E83E59B1B8E1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06096B58-0CCE-88EB-F513-05B9E73536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964317A-408A-B7F4-644F-7E64B7501D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B43924C2-5B3B-AE4A-F851-A9AF035263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E89C0D8-AC69-F646-268B-07A9154C2A5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576C1190-B1C7-EA3D-AD81-5BA9C3949D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C7E27B1-CFD6-D40F-EC12-DF3627C3B4C1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DC740D-0C10-117C-9017-4DD588A4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13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AC5F4-F6DE-1101-58A3-4DE0273A79BF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F5CF74E-F952-8504-FB41-0204C72424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" r="-261"/>
          <a:stretch>
            <a:fillRect/>
          </a:stretch>
        </p:blipFill>
        <p:spPr>
          <a:xfrm>
            <a:off x="165421" y="212016"/>
            <a:ext cx="7738822" cy="313486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FCEFBA8-C2EE-6E60-12E3-5469E05BD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9763C90-4EF4-FFD7-BE63-B9F80ED5BD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6702" y="3429000"/>
            <a:ext cx="6626993" cy="285850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8DF78E2-23F4-C27E-D3B3-49F96F2E6F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374E7EA-D5AB-A0AE-7E77-80B56911A4AD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.txt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05821F-C114-45AF-3C67-7388A051F92D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.txt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64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53E5-23AE-E653-0456-15B1A00B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51BEBBE1-EF55-A600-214A-3D8A6A397721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154D4BA4-B82F-87A2-2111-4A9CF5FE2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D888DE4-8CD1-B4EC-0844-10C453E8F3F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DEA25058-D4B5-EA85-042E-7370A0E7F8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E3D1D22-2E7E-D586-D5ED-90F68725D8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A271065-835A-FCF8-2510-CDF8F6DC85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9C385517-F13E-B3C8-A729-C0B4DD0BA2F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B4FCB4-4497-84DA-3D66-BCED5C6B5DC5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Текстовый файл в форматах </a:t>
            </a:r>
            <a:r>
              <a:rPr lang="en-US" sz="2800" dirty="0">
                <a:solidFill>
                  <a:schemeClr val="bg1"/>
                </a:solidFill>
              </a:rPr>
              <a:t>.mp3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.wav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https://convertio.co/ru/mp3-wav/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C2EEB43-66A5-6E66-4EE1-0B7FF3ED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14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E74C5B-D13B-AC3C-07F3-75AE78FC6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356" y="2182626"/>
            <a:ext cx="2657846" cy="3781953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нимок экрана, текст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0B60B4-98A8-6D05-370F-04C38073CE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515" y="2182626"/>
            <a:ext cx="2762636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87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CD59-E6B0-FF4F-281E-F8BB4B9C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0B19E47D-B078-66E7-C8CC-F9B27502E2A6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CE78C4C6-CF91-39FB-0F38-ACCD862BCA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BA685D7-3D6A-F6BA-6D37-27FEA765C1A1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DA0D4753-0546-2150-40B4-516361B999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C9319F3E-33DE-9960-7ED1-75A60A3803F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867BFE27-D91B-4283-7E8A-30F2C57071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42A00CF-111C-E465-88AF-F74A3BBBD33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171EBE-445C-F5C1-1133-4CD3FDD4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15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F5BE84-3D20-6B7E-96A9-A406ECC5B139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26D316D-80E3-3A2A-A213-26A827CF5E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0374E42-C39A-21AF-B64D-E4828C12F2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C4F1CF8-2838-4168-E9AD-5411FC759F5F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.mp3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05678F-428E-77AD-30E2-FABAE3B2424A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.mp3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1EF303-CB9F-C0DA-ED42-CD6E30C7B6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21" y="396390"/>
            <a:ext cx="7537142" cy="24320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ED8CA8-B745-ED84-9380-DDF21CE415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38" y="3524435"/>
            <a:ext cx="7800941" cy="262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6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88734-4740-52DA-A5E5-90BF7536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D16D8154-74E6-118C-1F07-3CF0EC21203F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ACC74B29-EDC2-E448-9FB2-6734EFFE3C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3FF8736-6490-ED22-683B-1A481B6CC53A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E31AED6-DD03-9962-442D-04C9516059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8419C564-78DF-1B6F-173A-C1254137025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C6A49FC4-9E01-6248-FDC9-8C99B6E8D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E433E0A-08CC-2828-120E-82D73192C6DA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13D58F6-A2F0-44AA-0510-7DC14DA2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16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D30D9-24FA-9621-277E-9D1C065A0D1A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148C655-F0B8-26F3-1E08-36CB8E5A33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7C68E6-B02A-38F7-9FF5-14425E8C26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6593466-AA72-F183-ADF8-2B7230E99916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.wav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68D4DE-5E98-FF69-0327-745D1A9F4AC1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.wav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1C4CD6-1357-3CE8-621A-8C2D0180B2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8615" y="3524435"/>
            <a:ext cx="7794986" cy="26291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EE4562-C7A5-12A4-A5B2-43FDBE2A6A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07" y="411120"/>
            <a:ext cx="7300594" cy="280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36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CB8C-A420-0FD1-C280-CFBB3E0E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9DD1D2-0540-6875-3DF2-EEF23B441501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B84B21EF-2C68-333F-BF31-0BAD869552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81DFF3A7-0D6A-219B-694B-7BFC0458D7A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05B22D0D-2746-5F76-AD4F-5A8024BDCE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D95AD4EA-9AA7-5525-A7A7-B151315A640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1C738272-533E-9247-2C17-5CDD0C793B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3E1FFF3-C408-F953-0D41-CFE0DFBB16BF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2384BB-12AE-0777-8757-44374E8B4218}"/>
              </a:ext>
            </a:extLst>
          </p:cNvPr>
          <p:cNvSpPr txBox="1"/>
          <p:nvPr/>
        </p:nvSpPr>
        <p:spPr>
          <a:xfrm>
            <a:off x="519006" y="331046"/>
            <a:ext cx="11486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Текстовый файл в форматах 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>
                <a:solidFill>
                  <a:schemeClr val="bg1"/>
                </a:solidFill>
              </a:rPr>
              <a:t>xlsm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>
                <a:solidFill>
                  <a:schemeClr val="bg1"/>
                </a:solidFill>
              </a:rPr>
              <a:t>xslx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Конвертировали в другие файлы с помощью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https://products.aspose.app/cells/ru/conversion/xlsx-to-xlsm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08C96CF-7E72-5353-9073-2DFB2608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17</a:t>
            </a:fld>
            <a:endParaRPr lang="ru-RU" altLang="en-US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F43D87-7EDF-E8A9-3395-4EF29E8FF4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3409" y="2062270"/>
            <a:ext cx="4325181" cy="407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79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2EAD-101C-5A05-FD5B-4F2AAE1C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8FA8EAAE-3ED3-8E87-A87D-03D8EF7F4C4B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C6EC6B68-3938-B6DA-3B6D-E41E91F8BC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427F841-95DC-D77B-2A4F-1D19F9A5805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74D44882-16A5-B7DB-9EC8-B797BF6F50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25987542-7CAF-5788-F0B9-76B39EE3E5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EE7BB5A5-AC84-EED4-D1AF-FF8AF26FC8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982CB0A-E861-AABC-A039-AA65D660580B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3509E5-5F51-F9A7-2714-D52F9626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18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5ECCB-F13E-8008-E671-28563A439B9B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BF0BB86-19E3-8232-3921-E1BB174760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C45F6F7-2253-E5B5-A785-78FA564186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CDF278E-68DC-7CAD-0F65-9C481205856C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r>
              <a:rPr lang="en-US" sz="2400" dirty="0" err="1">
                <a:solidFill>
                  <a:schemeClr val="bg1"/>
                </a:solidFill>
              </a:rPr>
              <a:t>xlsm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B925AB-9963-C74B-B037-32DB5C14F66F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r>
              <a:rPr lang="en-US" sz="2400" dirty="0" err="1">
                <a:solidFill>
                  <a:schemeClr val="bg1"/>
                </a:solidFill>
              </a:rPr>
              <a:t>xlsm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CB6EC0-74C7-630F-D47D-E0143831D1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421" y="414199"/>
            <a:ext cx="7754435" cy="266635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574E96-E84C-16AB-FF24-A5A0D78BC8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8615" y="3527514"/>
            <a:ext cx="7794986" cy="262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35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8FD0B-35CC-C83C-1B5A-B078DF91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FBE2F901-4FF6-2296-EBE8-1BD6923AF564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8D2E3390-3BB2-A20E-302E-BE0A724109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A9D0F2A-B84D-F692-B099-39EB88354B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69814553-8846-7687-2E9A-087BE735EE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21FF7E62-FC3E-F3EE-0F21-465DEE6370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CD7B0920-CAC6-170F-25E8-DF719A72EE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EA6EBC57-DD74-94EC-59A7-34B1FA41A28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5E25B50-BE65-C0ED-57CA-67010E1B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19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F55D3-823B-FA52-D394-77E555098ED1}"/>
              </a:ext>
            </a:extLst>
          </p:cNvPr>
          <p:cNvSpPr txBox="1"/>
          <p:nvPr/>
        </p:nvSpPr>
        <p:spPr>
          <a:xfrm>
            <a:off x="1073272766" y="10732685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1F593E3-4350-5D98-2C9A-B02B8563A3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1" r="74759" b="50118"/>
          <a:stretch>
            <a:fillRect/>
          </a:stretch>
        </p:blipFill>
        <p:spPr>
          <a:xfrm>
            <a:off x="8116278" y="2237173"/>
            <a:ext cx="3735412" cy="59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B3B0573-49F0-6117-A89F-8E998C90E3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91" r="74906"/>
          <a:stretch>
            <a:fillRect/>
          </a:stretch>
        </p:blipFill>
        <p:spPr>
          <a:xfrm>
            <a:off x="223053" y="5459178"/>
            <a:ext cx="3755969" cy="5912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665D259-E199-C969-DF9F-123FFB146903}"/>
              </a:ext>
            </a:extLst>
          </p:cNvPr>
          <p:cNvSpPr txBox="1"/>
          <p:nvPr/>
        </p:nvSpPr>
        <p:spPr>
          <a:xfrm>
            <a:off x="7848600" y="208591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неупакованного изображения </a:t>
            </a:r>
            <a:r>
              <a:rPr lang="en-US" sz="2400" dirty="0">
                <a:solidFill>
                  <a:schemeClr val="bg1"/>
                </a:solidFill>
              </a:rPr>
              <a:t>.xlsx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96D7C5-08D2-A0B3-85EC-74ED0355E598}"/>
              </a:ext>
            </a:extLst>
          </p:cNvPr>
          <p:cNvSpPr txBox="1"/>
          <p:nvPr/>
        </p:nvSpPr>
        <p:spPr>
          <a:xfrm>
            <a:off x="165421" y="3744685"/>
            <a:ext cx="4254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Гистограмма и энтропия программы упакованного файла на языке</a:t>
            </a:r>
            <a:r>
              <a:rPr lang="en-US" sz="2400" dirty="0">
                <a:solidFill>
                  <a:schemeClr val="bg1"/>
                </a:solidFill>
              </a:rPr>
              <a:t> .xlsx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65AAAC-E8EC-AB27-500F-654AAA88C6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421" y="484890"/>
            <a:ext cx="7754435" cy="25249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C8207E-AA07-8234-1365-01F50CD5C7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52957" y="3527514"/>
            <a:ext cx="7746302" cy="262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59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194733" y="474979"/>
            <a:ext cx="1074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Таблица расчета энтропии и размеров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8EFBE6-C894-4A89-9CA3-CA723BA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20</a:t>
            </a:fld>
            <a:endParaRPr lang="ru-RU" altLang="en-US"/>
          </a:p>
        </p:txBody>
      </p:sp>
      <p:pic>
        <p:nvPicPr>
          <p:cNvPr id="5" name="Рисунок 4" descr="Изображение выглядит как текст, снимок экрана, число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59BAD55-4DB6-8545-DCEB-F9C27AA56B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442" y="1692838"/>
            <a:ext cx="10721116" cy="347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47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8" descr="Изображение выглядит как Графика, графический дизайн, Красочность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7286483E-4C6C-63B7-0693-6E56251D4B13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35150" r="4289" b="950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3D1DC4A-ECF8-D802-5FCE-93A7D80A7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5450" y="1292225"/>
            <a:ext cx="11341100" cy="5368925"/>
          </a:xfrm>
          <a:prstGeom prst="roundRect">
            <a:avLst>
              <a:gd name="adj" fmla="val 40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6872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Выводы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2A006-0A85-4B28-9C6E-B918AAA1019D}"/>
              </a:ext>
            </a:extLst>
          </p:cNvPr>
          <p:cNvSpPr txBox="1"/>
          <p:nvPr/>
        </p:nvSpPr>
        <p:spPr>
          <a:xfrm>
            <a:off x="770467" y="1693333"/>
            <a:ext cx="10439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Наибольшая эффективность упаковки наблюдается у программ на C и C#: после сжатия существенно уменьшается размер файла и возрастает энтропия, что указывает на наличие статистической избыточности в исходных бинарных данных.</a:t>
            </a:r>
          </a:p>
          <a:p>
            <a:pPr marL="342900" indent="-342900">
              <a:buAutoNum type="arabicPeriod"/>
            </a:pPr>
            <a:r>
              <a:rPr lang="ru-RU" dirty="0"/>
              <a:t>Python-файл продемонстрировал минимальные изменения, что указывает на слабый эффект сжатия для данного образца данных.</a:t>
            </a:r>
          </a:p>
          <a:p>
            <a:pPr marL="342900" indent="-342900">
              <a:buAutoNum type="arabicPeriod"/>
            </a:pPr>
            <a:r>
              <a:rPr lang="ru-RU" dirty="0"/>
              <a:t>Текстовые форматы (.</a:t>
            </a:r>
            <a:r>
              <a:rPr lang="ru-RU" dirty="0" err="1"/>
              <a:t>txt</a:t>
            </a:r>
            <a:r>
              <a:rPr lang="ru-RU" dirty="0"/>
              <a:t>, .</a:t>
            </a:r>
            <a:r>
              <a:rPr lang="ru-RU" dirty="0" err="1"/>
              <a:t>docx</a:t>
            </a:r>
            <a:r>
              <a:rPr lang="ru-RU" dirty="0"/>
              <a:t>) показали умеренный эффект: обычный текстовый файл поддаётся сжатию, тогда как .</a:t>
            </a:r>
            <a:r>
              <a:rPr lang="ru-RU" dirty="0" err="1"/>
              <a:t>docx</a:t>
            </a:r>
            <a:r>
              <a:rPr lang="ru-RU" dirty="0"/>
              <a:t> уже содержит встроенное архивирование, поэтому повторная упаковка влияет ограниченно.</a:t>
            </a:r>
          </a:p>
          <a:p>
            <a:pPr marL="342900" indent="-342900">
              <a:buAutoNum type="arabicPeriod"/>
            </a:pPr>
            <a:r>
              <a:rPr lang="ru-RU" dirty="0"/>
              <a:t>Электронные таблицы (.</a:t>
            </a:r>
            <a:r>
              <a:rPr lang="ru-RU" dirty="0" err="1"/>
              <a:t>xlsx</a:t>
            </a:r>
            <a:r>
              <a:rPr lang="ru-RU" dirty="0"/>
              <a:t>, .</a:t>
            </a:r>
            <a:r>
              <a:rPr lang="ru-RU" dirty="0" err="1"/>
              <a:t>xlsm</a:t>
            </a:r>
            <a:r>
              <a:rPr lang="ru-RU" dirty="0"/>
              <a:t>) также демонстрируют незначительное изменение энтропии, поскольку изначально используют ZIP-структуру, однако наличие внутренней избыточности позволяет дополнительно уменьшить размер.</a:t>
            </a:r>
          </a:p>
          <a:p>
            <a:pPr marL="342900" indent="-342900">
              <a:buAutoNum type="arabicPeriod"/>
            </a:pPr>
            <a:r>
              <a:rPr lang="ru-RU" dirty="0"/>
              <a:t>Графические и аудиоформаты (.</a:t>
            </a:r>
            <a:r>
              <a:rPr lang="ru-RU" dirty="0" err="1"/>
              <a:t>jpg</a:t>
            </a:r>
            <a:r>
              <a:rPr lang="ru-RU" dirty="0"/>
              <a:t>, .mp3) практически не изменяются при повторной упаковке, так как уже являются сжатыми форматами; для несжатых форматов эффект выражен слабее и зависит от структуры конкретного файла.</a:t>
            </a:r>
          </a:p>
          <a:p>
            <a:pPr marL="342900" indent="-342900">
              <a:buAutoNum type="arabicPeriod"/>
            </a:pPr>
            <a:r>
              <a:rPr lang="ru-RU" dirty="0"/>
              <a:t>Общий итог: эффективность сжатия определяется степенью исходной избыточности данных — чем менее равномерно распределены байты и ниже начальная энтропия, тем заметнее результат упаковки.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4322CB-B61A-4DDC-8A8C-845EE184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21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14927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1421</TotalTime>
  <Words>621</Words>
  <Application>Microsoft Office PowerPoint</Application>
  <PresentationFormat>Широкоэкранный</PresentationFormat>
  <Paragraphs>105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等线</vt:lpstr>
      <vt:lpstr>Aptos</vt:lpstr>
      <vt:lpstr>Aptos Display</vt:lpstr>
      <vt:lpstr>Arial</vt:lpstr>
      <vt:lpstr>Akrobat Black</vt:lpstr>
      <vt:lpstr>Akrobat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Xiaomi</dc:creator>
  <cp:lastModifiedBy>Саня Василь</cp:lastModifiedBy>
  <cp:revision>165</cp:revision>
  <dcterms:created xsi:type="dcterms:W3CDTF">2024-09-10T07:53:00Z</dcterms:created>
  <dcterms:modified xsi:type="dcterms:W3CDTF">2026-02-19T09:07:35Z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85F69DFBD54D4A58BC3CE05CEB498B89_13</vt:lpwstr>
  </property>
  <property fmtid="{D5CDD505-2E9C-101B-9397-08002B2CF9AE}" pid="3" name="KSOProductBuildVer">
    <vt:lpwstr>1049-12.2.0.18911</vt:lpwstr>
  </property>
</Properties>
</file>