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3"/>
  </p:notesMasterIdLst>
  <p:sldIdLst>
    <p:sldId id="267" r:id="rId2"/>
    <p:sldId id="280" r:id="rId3"/>
    <p:sldId id="281" r:id="rId4"/>
    <p:sldId id="282" r:id="rId5"/>
    <p:sldId id="283" r:id="rId6"/>
    <p:sldId id="314" r:id="rId7"/>
    <p:sldId id="315" r:id="rId8"/>
    <p:sldId id="306" r:id="rId9"/>
    <p:sldId id="316" r:id="rId10"/>
    <p:sldId id="317" r:id="rId11"/>
    <p:sldId id="324" r:id="rId12"/>
    <p:sldId id="318" r:id="rId13"/>
    <p:sldId id="319" r:id="rId14"/>
    <p:sldId id="325" r:id="rId15"/>
    <p:sldId id="320" r:id="rId16"/>
    <p:sldId id="321" r:id="rId17"/>
    <p:sldId id="326" r:id="rId18"/>
    <p:sldId id="322" r:id="rId19"/>
    <p:sldId id="323" r:id="rId20"/>
    <p:sldId id="309" r:id="rId21"/>
    <p:sldId id="310" r:id="rId22"/>
  </p:sldIdLst>
  <p:sldSz cx="12192000" cy="6858000"/>
  <p:notesSz cx="6858000" cy="9144000"/>
  <p:embeddedFontLst>
    <p:embeddedFont>
      <p:font typeface="等线" panose="02010600030101010101" pitchFamily="2" charset="-122"/>
      <p:regular r:id="rId24"/>
    </p:embeddedFont>
    <p:embeddedFont>
      <p:font typeface="Akrobat" panose="020B0604020202020204" charset="-52"/>
      <p:regular r:id="rId25"/>
      <p:bold r:id="rId26"/>
    </p:embeddedFont>
    <p:embeddedFont>
      <p:font typeface="Akrobat Black" panose="020B0604020202020204" charset="-52"/>
      <p:bold r:id="rId27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Левахина Ксения Сергеевна" initials="ЛКС" lastIdx="2" clrIdx="0">
    <p:extLst>
      <p:ext uri="{19B8F6BF-5375-455C-9EA6-DF929625EA0E}">
        <p15:presenceInfo xmlns:p15="http://schemas.microsoft.com/office/powerpoint/2012/main" userId="Левахина Ксения Сергеевна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D2D6E"/>
    <a:srgbClr val="C33674"/>
    <a:srgbClr val="440EA5"/>
    <a:srgbClr val="1604C0"/>
    <a:srgbClr val="3536B0"/>
    <a:srgbClr val="063971"/>
    <a:srgbClr val="8B19A3"/>
    <a:srgbClr val="7D1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72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2-10T19:56:56.110" idx="2">
    <p:pos x="7680" y="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3D24B569-3539-B230-BF23-AE29C7851C1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Aptos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F1D6893-FF24-CCB2-32C4-6D3BAD9A3AB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C8105D2D-B396-4D12-B05A-CB356EB9FD37}" type="datetimeFigureOut">
              <a:rPr lang="ru-RU"/>
              <a:pPr>
                <a:defRPr/>
              </a:pPr>
              <a:t>17.02.2026</a:t>
            </a:fld>
            <a:endParaRPr lang="ru-RU"/>
          </a:p>
        </p:txBody>
      </p:sp>
      <p:sp>
        <p:nvSpPr>
          <p:cNvPr id="2052" name="Образ слайда 3">
            <a:extLst>
              <a:ext uri="{FF2B5EF4-FFF2-40B4-BE49-F238E27FC236}">
                <a16:creationId xmlns:a16="http://schemas.microsoft.com/office/drawing/2014/main" id="{2A0D2549-88B5-1FDE-5A8F-4F379157F188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53" name="Заметки 4">
            <a:extLst>
              <a:ext uri="{FF2B5EF4-FFF2-40B4-BE49-F238E27FC236}">
                <a16:creationId xmlns:a16="http://schemas.microsoft.com/office/drawing/2014/main" id="{A8EE8950-55E1-A383-27FF-2444CD1F1461}"/>
              </a:ext>
            </a:extLst>
          </p:cNvPr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 noProof="0"/>
              <a:t>Образец текста</a:t>
            </a:r>
          </a:p>
          <a:p>
            <a:pPr lvl="1"/>
            <a:r>
              <a:rPr lang="ru-RU" altLang="zh-CN" noProof="0"/>
              <a:t>Второй уровень</a:t>
            </a:r>
          </a:p>
          <a:p>
            <a:pPr lvl="2"/>
            <a:r>
              <a:rPr lang="ru-RU" altLang="zh-CN" noProof="0"/>
              <a:t>Третий уровень</a:t>
            </a:r>
          </a:p>
          <a:p>
            <a:pPr lvl="3"/>
            <a:r>
              <a:rPr lang="ru-RU" altLang="zh-CN" noProof="0"/>
              <a:t>Четвертый уровень</a:t>
            </a:r>
          </a:p>
          <a:p>
            <a:pPr lvl="4"/>
            <a:r>
              <a:rPr lang="ru-RU" altLang="zh-CN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1060073-2E6A-34A2-A2EF-8897974FF6A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Aptos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98B15A7-9861-5AF3-1585-44B999132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254866DC-8FB9-43BC-8358-DB11DD4A82D2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594983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Образ слайда 1">
            <a:extLst>
              <a:ext uri="{FF2B5EF4-FFF2-40B4-BE49-F238E27FC236}">
                <a16:creationId xmlns:a16="http://schemas.microsoft.com/office/drawing/2014/main" id="{53AAC0CF-7882-61E7-0A82-F3F5EB632907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4099" name="Заметки 2">
            <a:extLst>
              <a:ext uri="{FF2B5EF4-FFF2-40B4-BE49-F238E27FC236}">
                <a16:creationId xmlns:a16="http://schemas.microsoft.com/office/drawing/2014/main" id="{0792E640-6F8F-25C6-43A9-A45C59DFA48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5ED53A4B-D4C9-5910-9D06-407DDBCFAFA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0D141B37-D474-459C-9E0F-8C0D0EC0CEEE}" type="slidenum">
              <a:rPr altLang="zh-CN">
                <a:cs typeface="等线" panose="02010600030101010101" pitchFamily="2" charset="-122"/>
              </a:rPr>
              <a:pPr/>
              <a:t>1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2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3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2136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4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571230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5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79710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CFC7A-B5AA-7C20-1A13-798502885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9B37FA23-4D0F-AD61-2CA4-6BABAC6FFE81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479EB43F-85BC-DE9C-28ED-F8577647A88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633A1BCE-F795-41D2-50A7-FDCFC397557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6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92586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3E605-5B9A-CD87-21CE-AF144D13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FBCFE115-B3B4-8A0F-F4AF-FFDD8C0E45CA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5558850B-B1A6-95FB-15A4-B4A01FABE48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1FD01AAA-FDCA-89FD-3A90-5CCC33E705B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7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41348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8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03174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89CF3-C18D-9563-57C3-49418CB3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33C4FDFB-0B5F-47FE-0CBF-03BF6BC7C050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FDC5E20F-FA64-CC47-6FB1-3E59C658CC1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9B1F25A9-9A11-F65E-D155-60E52A6E707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9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444166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1E51-74E8-3A3D-C278-E54D3792D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C3089C0-43E0-8777-2A33-E2527A4B1686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028DB1D-B46E-6D1E-66DE-40FBF0B0ED0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5B48ECA2-03FC-39C7-D899-E4241F586CC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10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626889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EDAE4-73AD-3966-B668-4FE8E610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1DB3E11E-9024-7458-5F8D-FE78CDAB9CF4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90A39CF3-BA2E-FA03-F635-2DBE1C056C0F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747A1016-74E5-31CC-E8F9-2B3C4742738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11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444822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4E74D-938C-8E2C-5FF2-DD57E470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770EBE29-1F9E-FB6E-6C66-6098343AEB2E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B4FF3F77-A02D-370D-9AE5-593A3092E36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87CB9098-BB3B-0D2A-6899-81B8C3585B0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12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576235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51313-E672-8FA7-2A39-3AB35D1B5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09765CEC-8397-2C78-0A6B-0551BCA843F2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48B1ABF7-C737-C35E-1E08-CE274474030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AE2E327E-7FED-98D2-7384-3DA078187A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13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84183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84859-7033-C9A0-513C-0EFA36B89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F9C2F625-1FBD-4F6A-BA7E-95F5786125E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FA14969-0666-36F1-20FC-81411CFE739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BDF24532-3D9B-C8E4-7757-185790391C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14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5069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786C1-BDE9-3B78-BA69-6CB4D5309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70D1E7DF-C926-E9A5-DA0E-69152D13B7D3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4C717437-0803-21BF-6B8E-5543FF63059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BD179514-4FF8-3C50-DD1F-23C1AD6746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15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059028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7FB0F-795F-524A-9F7E-BF4ADA4C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49A312A1-AAC8-5894-A14B-8D6FD46F340E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63BC559-D491-7F0A-3963-215362E6CCA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ADD03C1F-740E-6563-4F02-3E43BCEADEA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16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89747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0EE60-D919-E093-36DE-3CFB4DC45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410E947E-1419-CB53-61A5-346AA4C157C4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86002864-6B97-7B91-DC95-D7CE64E2770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C7B64A85-63B6-0E67-C69E-C5A50446EC8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17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140641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8ECEF-EA73-06C6-DE4E-C0A6B827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95CCB15E-CF28-AF24-4F33-5797E36D0531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76EE406A-FE19-3237-B836-3B5D6AD1C5F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CDBA9188-164F-9AB7-B736-B87C479E32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18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942664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79F1F-80B9-0054-8DD6-EAB635B55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8B797329-3EDF-0F28-4AEA-5667D3C03B56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5E19487-0A7A-5051-A360-37782A349AA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6C3F32AA-ACA3-7AB2-B571-3E651585540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19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19109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20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962432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Образ слайда 1">
            <a:extLst>
              <a:ext uri="{FF2B5EF4-FFF2-40B4-BE49-F238E27FC236}">
                <a16:creationId xmlns:a16="http://schemas.microsoft.com/office/drawing/2014/main" id="{24E9FCA6-A33E-7587-A258-175EFCD42739}"/>
              </a:ext>
            </a:extLst>
          </p:cNvPr>
          <p:cNvSpPr>
            <a:spLocks noGrp="1" noRot="1" noChangeAspect="1" noChangeArrowheads="1" noTextEdit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6147" name="Заметки 2">
            <a:extLst>
              <a:ext uri="{FF2B5EF4-FFF2-40B4-BE49-F238E27FC236}">
                <a16:creationId xmlns:a16="http://schemas.microsoft.com/office/drawing/2014/main" id="{0C90C6B1-1E92-1489-6700-06586BDFA01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endParaRPr lang="ru-RU" altLang="zh-CN">
              <a:cs typeface="等线" panose="02010600030101010101" pitchFamily="2" charset="-122"/>
            </a:endParaRPr>
          </a:p>
        </p:txBody>
      </p:sp>
      <p:sp>
        <p:nvSpPr>
          <p:cNvPr id="2" name="Номер слайда 3">
            <a:extLst>
              <a:ext uri="{FF2B5EF4-FFF2-40B4-BE49-F238E27FC236}">
                <a16:creationId xmlns:a16="http://schemas.microsoft.com/office/drawing/2014/main" id="{D0EAF469-AE95-4584-DF0F-84F94594AB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fld id="{8D687E02-124D-4478-85CC-DFD89EE2273D}" type="slidenum">
              <a:rPr altLang="zh-CN">
                <a:cs typeface="等线" panose="02010600030101010101" pitchFamily="2" charset="-122"/>
              </a:rPr>
              <a:pPr/>
              <a:t>21</a:t>
            </a:fld>
            <a:endParaRPr lang="en-US" altLang="zh-CN">
              <a:cs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90602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noProof="1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C2ABE4-66CA-FBAE-F148-682326182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59C0F2-78E2-46FF-9166-629315525A25}" type="datetime1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458B08-277F-AB77-9678-1AEDBCA0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5F25A0-106D-7220-AC99-1EF741A23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5F1E390-58D5-46F8-9BB8-613D346979AB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74716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BBCFFA-2B60-0D33-14B9-16347B978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019043-AA2D-4600-AFD8-23050D3BDC42}" type="datetime1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147434-D651-BC98-F3C1-C815E69FB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354D81-F9A3-D949-4508-BDA2CA8AA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721CB51-31ED-4C09-A4A0-FBB363AB4F10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87028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136581E-5804-E9A8-BEE4-D751DBF2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060A03-B9C5-4FFE-B137-2043DA7076BB}" type="datetime1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EA2D86-B09A-C40A-E227-36A84CD4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0FCF3C8-1BAC-C257-2E59-A2E06FCF5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C42B27E-6C67-4B84-9BF5-73A4FC4A53BE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89953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3F1E15D9-539E-A388-65EC-F517CEE3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240625-FC0F-4A55-B6A4-1B11F9D1882C}" type="datetime1">
              <a:rPr lang="ru-RU" smtClean="0"/>
              <a:t>17.02.2026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43124E61-3FD1-96D6-E3F5-B802BB450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2D804349-1223-05FC-F119-C8DD8CC22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BB50DF-BE53-45CF-BE31-DF755AFBEC99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91630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FFE1A5AB-2FA2-EB97-D7E5-F7E5D4373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A8771A-C258-4F7C-9C56-577225F58644}" type="datetime1">
              <a:rPr lang="ru-RU" smtClean="0"/>
              <a:t>17.02.2026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3EF1D936-1C13-FDEC-5A4A-E0C7DE19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5B8405F6-1624-0D56-9C97-5CD9735EB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57F18C-6156-4E2E-861F-BD2D152600E4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9918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83BA1D94-E263-339E-B6D3-8C777D966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E4C6D7-9D43-4D0D-B6CE-B7FE888DFA5B}" type="datetime1">
              <a:rPr lang="ru-RU" smtClean="0"/>
              <a:t>17.02.2026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9998661F-3D46-DDBA-9167-5453D12F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860C6424-5CF4-4407-7AC6-742C530C4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B2DC26D-16D0-4072-A9C2-F73E32D665E3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1572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0ED75349-1FF2-B82C-6543-DCEA71F51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3D6178-225B-4E17-A144-18738C8E44D9}" type="datetime1">
              <a:rPr lang="ru-RU" smtClean="0"/>
              <a:t>17.02.2026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37CAB170-DFCE-B949-A6D5-0D7F42B6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87BA5E49-7C53-2330-E74E-5F8A12EDC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3D3A62-9975-49A2-A229-F36F92FB7EA0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88979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F7ED9EA-648B-D99B-6F59-60C1E97B1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287886-C08E-438B-A97D-17C336AB888F}" type="datetime1">
              <a:rPr lang="ru-RU" smtClean="0"/>
              <a:t>17.02.2026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49528BB1-8F5B-8C4C-BE9A-08DD90CA0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72556A4-9548-26BD-FFCE-46025DD68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2CC1B95-8037-48E2-8040-416C98D7C4AD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26177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noProof="1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ru-RU" noProof="1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noProof="1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F81C3129-2E8E-B3AC-7A10-7A051C1E8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185191-32C7-4D90-A7A3-18B272EEA2FE}" type="datetime1">
              <a:rPr lang="ru-RU" smtClean="0"/>
              <a:t>17.02.2026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8B74E426-A57A-3682-E571-E8653EE97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D3E7706F-D243-AFC6-D7C5-B162EF352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1F2522C-181D-4A71-8DB8-8853F49E3C2E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3584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2C1418-F14F-FDBD-0570-E630814B2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5275B1-7458-49F2-B69B-F5D94466ED9F}" type="datetime1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32D6A0-FE00-448F-58D5-B51A9F9D8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E1D47D-F72A-AA5D-8001-C1589EB3C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90553FB-7ADB-41A9-B7EB-C872ABECCDF1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3784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9BA74B-016D-D9B8-2B0C-2B04C83D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DBFEF6-68F3-4A89-9AD1-5470280F4BC4}" type="datetime1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8BAF24-B361-0A1F-06CC-FA2E0B5C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A6F744-F544-E81F-F2B3-9AF85B83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E47BF8C-8CDF-489C-9A49-5B985D2732EA}" type="slidenum">
              <a:rPr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90725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rgbClr val="0708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74071D2B-B61E-184E-7103-129237AF813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72020E1D-F62F-A1CE-AB98-A89265EF7BB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текста</a:t>
            </a:r>
          </a:p>
          <a:p>
            <a:pPr lvl="1"/>
            <a:r>
              <a:rPr lang="ru-RU" altLang="zh-CN"/>
              <a:t>Второй уровень</a:t>
            </a:r>
          </a:p>
          <a:p>
            <a:pPr lvl="2"/>
            <a:r>
              <a:rPr lang="ru-RU" altLang="zh-CN"/>
              <a:t>Третий уровень</a:t>
            </a:r>
          </a:p>
          <a:p>
            <a:pPr lvl="3"/>
            <a:r>
              <a:rPr lang="ru-RU" altLang="zh-CN"/>
              <a:t>Четвертый уровень</a:t>
            </a:r>
          </a:p>
          <a:p>
            <a:pPr lvl="4"/>
            <a:r>
              <a:rPr lang="ru-RU" altLang="zh-CN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C2C9DE-9BB2-61D7-BAB2-FCDB061589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defRPr sz="1200" noProof="1">
                <a:solidFill>
                  <a:schemeClr val="tx1">
                    <a:tint val="82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A1AC42D-45EC-4968-A3B2-7E904D52A6B0}" type="datetime1">
              <a:rPr lang="ru-RU" smtClean="0"/>
              <a:t>17.02.2026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977651-4749-99BC-B2D3-C1DCB553A6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defRPr sz="1200" noProof="1">
                <a:solidFill>
                  <a:schemeClr val="tx1">
                    <a:tint val="82000"/>
                  </a:schemeClr>
                </a:solidFill>
                <a:latin typeface="Aptos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A9F982E-F481-979B-A42F-EA02538FC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>
                <a:solidFill>
                  <a:srgbClr val="767676"/>
                </a:solidFill>
              </a:defRPr>
            </a:lvl1pPr>
          </a:lstStyle>
          <a:p>
            <a:fld id="{EE380E60-B8F9-48F5-9BBB-CB01B607B2F8}" type="slidenum">
              <a:rPr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ptos Display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comments" Target="../comments/commen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image" Target="../media/image17.png"/><Relationship Id="rId4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image" Target="../media/image21.png"/><Relationship Id="rId4" Type="http://schemas.openxmlformats.org/officeDocument/2006/relationships/image" Target="../media/image6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4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1363F17F-CBF0-C3D5-6B6E-A652184CD19A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TextBox 32">
            <a:extLst>
              <a:ext uri="{FF2B5EF4-FFF2-40B4-BE49-F238E27FC236}">
                <a16:creationId xmlns:a16="http://schemas.microsoft.com/office/drawing/2014/main" id="{3FE59A19-9F1C-000F-1058-19E9E50ADD1D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466725" y="4183063"/>
            <a:ext cx="433546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AutoNum type="arabicPeriod"/>
            </a:pPr>
            <a:r>
              <a:rPr lang="ru-RU" altLang="zh-CN" sz="1800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Лопатин Артём – 3 курс, ИТТСУ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AutoNum type="arabicPeriod"/>
            </a:pPr>
            <a:r>
              <a:rPr lang="ru-RU" altLang="zh-CN" sz="1800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Васильев Александр – 3 курс, ИТТСУ</a:t>
            </a:r>
          </a:p>
        </p:txBody>
      </p:sp>
      <p:sp>
        <p:nvSpPr>
          <p:cNvPr id="86" name="Скругленный прямоугольник 85">
            <a:extLst>
              <a:ext uri="{FF2B5EF4-FFF2-40B4-BE49-F238E27FC236}">
                <a16:creationId xmlns:a16="http://schemas.microsoft.com/office/drawing/2014/main" id="{FED8E283-9887-9B58-72A0-21D604CD1A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6738" y="1574800"/>
            <a:ext cx="5226050" cy="1763713"/>
          </a:xfrm>
          <a:prstGeom prst="roundRect">
            <a:avLst>
              <a:gd name="adj" fmla="val 6900"/>
            </a:avLst>
          </a:prstGeom>
          <a:noFill/>
          <a:ln w="38100">
            <a:solidFill>
              <a:schemeClr val="bg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sp>
        <p:nvSpPr>
          <p:cNvPr id="3077" name="TextBox 9">
            <a:extLst>
              <a:ext uri="{FF2B5EF4-FFF2-40B4-BE49-F238E27FC236}">
                <a16:creationId xmlns:a16="http://schemas.microsoft.com/office/drawing/2014/main" id="{D336DCE0-A150-5786-33EB-EF73CFE17CAC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425450" y="315913"/>
            <a:ext cx="831850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4000" b="1" dirty="0">
                <a:solidFill>
                  <a:schemeClr val="bg1"/>
                </a:solidFill>
                <a:latin typeface="Akrobat Black" pitchFamily="2" charset="-52"/>
                <a:cs typeface="等线" panose="02010600030101010101" pitchFamily="2" charset="-122"/>
              </a:rPr>
              <a:t>1 ЗАДАНИЕ Технология реверс-инжиниринга</a:t>
            </a:r>
          </a:p>
        </p:txBody>
      </p:sp>
      <p:sp>
        <p:nvSpPr>
          <p:cNvPr id="11" name="Скругленный прямоугольник 85">
            <a:extLst>
              <a:ext uri="{FF2B5EF4-FFF2-40B4-BE49-F238E27FC236}">
                <a16:creationId xmlns:a16="http://schemas.microsoft.com/office/drawing/2014/main" id="{6E3336D4-2AB6-A36C-D69B-B6C40A6250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6125" y="1754188"/>
            <a:ext cx="4867275" cy="1403350"/>
          </a:xfrm>
          <a:prstGeom prst="roundRect">
            <a:avLst>
              <a:gd name="adj" fmla="val 2771"/>
            </a:avLst>
          </a:prstGeom>
          <a:solidFill>
            <a:schemeClr val="bg1"/>
          </a:solidFill>
          <a:ln w="38100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r>
              <a:rPr lang="ru-RU" noProof="1">
                <a:solidFill>
                  <a:schemeClr val="bg1">
                    <a:lumMod val="50000"/>
                  </a:schemeClr>
                </a:solidFill>
                <a:latin typeface="Akrobat" panose="00000500000000000000" pitchFamily="50" charset="-52"/>
              </a:rPr>
              <a:t>Логотип заказчика</a:t>
            </a:r>
          </a:p>
        </p:txBody>
      </p:sp>
      <p:sp>
        <p:nvSpPr>
          <p:cNvPr id="3079" name="TextBox 11">
            <a:extLst>
              <a:ext uri="{FF2B5EF4-FFF2-40B4-BE49-F238E27FC236}">
                <a16:creationId xmlns:a16="http://schemas.microsoft.com/office/drawing/2014/main" id="{646DB2D0-077C-2581-20C0-46599ED8F0FE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444500" y="3721100"/>
            <a:ext cx="32956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2400" b="1" dirty="0">
                <a:solidFill>
                  <a:schemeClr val="bg1"/>
                </a:solidFill>
                <a:latin typeface="Akrobat Black" pitchFamily="2" charset="-52"/>
                <a:cs typeface="等线" panose="02010600030101010101" pitchFamily="2" charset="-122"/>
              </a:rPr>
              <a:t>КОМАНДА</a:t>
            </a:r>
            <a:r>
              <a:rPr lang="en-US" altLang="ru-RU" sz="2400" b="1" dirty="0">
                <a:solidFill>
                  <a:schemeClr val="bg1"/>
                </a:solidFill>
                <a:latin typeface="Akrobat Black" pitchFamily="2" charset="-52"/>
              </a:rPr>
              <a:t>:</a:t>
            </a:r>
            <a:endParaRPr lang="ru-RU" altLang="zh-CN" sz="2400" b="1" dirty="0">
              <a:solidFill>
                <a:schemeClr val="bg1"/>
              </a:solidFill>
              <a:latin typeface="Akrobat Black" pitchFamily="2" charset="-52"/>
              <a:cs typeface="等线" panose="02010600030101010101" pitchFamily="2" charset="-122"/>
            </a:endParaRPr>
          </a:p>
        </p:txBody>
      </p:sp>
      <p:sp>
        <p:nvSpPr>
          <p:cNvPr id="3080" name="TextBox 30">
            <a:extLst>
              <a:ext uri="{FF2B5EF4-FFF2-40B4-BE49-F238E27FC236}">
                <a16:creationId xmlns:a16="http://schemas.microsoft.com/office/drawing/2014/main" id="{6484AF60-88E8-2047-B55B-15DB07E9BACC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7910513" y="4176713"/>
            <a:ext cx="47672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Сидоренко Валентина Геннадьевна – проф., доктор технических наук</a:t>
            </a:r>
            <a:endParaRPr lang="en-US" altLang="zh-CN" sz="1600" b="1" dirty="0">
              <a:solidFill>
                <a:schemeClr val="bg1"/>
              </a:solidFill>
              <a:latin typeface="Akrobat" pitchFamily="2" charset="-52"/>
              <a:cs typeface="等线" panose="0201060003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C</a:t>
            </a:r>
            <a:r>
              <a:rPr lang="ru-RU" altLang="zh-CN" sz="1600" b="1" dirty="0" err="1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афронов</a:t>
            </a:r>
            <a:r>
              <a:rPr lang="ru-RU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 Антон Игоревич – доцент, кандидат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технических наук</a:t>
            </a:r>
          </a:p>
        </p:txBody>
      </p:sp>
      <p:sp>
        <p:nvSpPr>
          <p:cNvPr id="3081" name="TextBox 17">
            <a:extLst>
              <a:ext uri="{FF2B5EF4-FFF2-40B4-BE49-F238E27FC236}">
                <a16:creationId xmlns:a16="http://schemas.microsoft.com/office/drawing/2014/main" id="{96699EB0-DEB3-FDEF-55C5-C85C4F78236F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7910513" y="3721100"/>
            <a:ext cx="36258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2400" b="1" dirty="0">
                <a:solidFill>
                  <a:schemeClr val="bg1"/>
                </a:solidFill>
                <a:latin typeface="Akrobat Black" pitchFamily="2" charset="-52"/>
                <a:cs typeface="等线" panose="02010600030101010101" pitchFamily="2" charset="-122"/>
              </a:rPr>
              <a:t>НАСТАВНИКИ</a:t>
            </a:r>
            <a:r>
              <a:rPr lang="en-US" altLang="ru-RU" sz="2400" b="1" dirty="0">
                <a:solidFill>
                  <a:schemeClr val="bg1"/>
                </a:solidFill>
                <a:latin typeface="Akrobat Black" pitchFamily="2" charset="-52"/>
              </a:rPr>
              <a:t>:</a:t>
            </a:r>
            <a:endParaRPr lang="ru-RU" altLang="zh-CN" sz="2400" b="1" dirty="0">
              <a:solidFill>
                <a:schemeClr val="bg1"/>
              </a:solidFill>
              <a:latin typeface="Akrobat Black" pitchFamily="2" charset="-52"/>
              <a:cs typeface="等线" panose="02010600030101010101" pitchFamily="2" charset="-122"/>
            </a:endParaRPr>
          </a:p>
        </p:txBody>
      </p:sp>
      <p:sp>
        <p:nvSpPr>
          <p:cNvPr id="3082" name="TextBox 17">
            <a:extLst>
              <a:ext uri="{FF2B5EF4-FFF2-40B4-BE49-F238E27FC236}">
                <a16:creationId xmlns:a16="http://schemas.microsoft.com/office/drawing/2014/main" id="{47A7010F-C402-F5FE-942B-256C1125E89A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7967663" y="4733925"/>
            <a:ext cx="3625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 altLang="en-US" sz="2400" b="1" dirty="0">
              <a:solidFill>
                <a:schemeClr val="bg1"/>
              </a:solidFill>
              <a:latin typeface="Akrobat Black" pitchFamily="2" charset="-5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ru-RU" altLang="en-US" sz="2400" b="1" dirty="0">
              <a:solidFill>
                <a:schemeClr val="bg1"/>
              </a:solidFill>
              <a:latin typeface="Akrobat Black" pitchFamily="2" charset="-5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en-US" sz="2400" b="1" dirty="0">
                <a:solidFill>
                  <a:schemeClr val="bg1"/>
                </a:solidFill>
                <a:latin typeface="Akrobat Black" pitchFamily="2" charset="-52"/>
              </a:rPr>
              <a:t>КАФЕДРА</a:t>
            </a:r>
            <a:r>
              <a:rPr lang="en-US" altLang="en-US" sz="2400" b="1" dirty="0">
                <a:solidFill>
                  <a:schemeClr val="bg1"/>
                </a:solidFill>
                <a:latin typeface="Akrobat Black" pitchFamily="2" charset="-52"/>
              </a:rPr>
              <a:t>:</a:t>
            </a:r>
            <a:endParaRPr lang="ru-RU" altLang="zh-CN" sz="2400" b="1" dirty="0">
              <a:solidFill>
                <a:schemeClr val="bg1"/>
              </a:solidFill>
              <a:latin typeface="Akrobat Black" pitchFamily="2" charset="-52"/>
              <a:cs typeface="等线" panose="02010600030101010101" pitchFamily="2" charset="-122"/>
            </a:endParaRPr>
          </a:p>
        </p:txBody>
      </p:sp>
      <p:sp>
        <p:nvSpPr>
          <p:cNvPr id="3083" name="TextBox 30">
            <a:extLst>
              <a:ext uri="{FF2B5EF4-FFF2-40B4-BE49-F238E27FC236}">
                <a16:creationId xmlns:a16="http://schemas.microsoft.com/office/drawing/2014/main" id="{9AE757F5-A5D2-E9C3-C4CE-46719D44F22E}"/>
              </a:ext>
            </a:extLst>
          </p:cNvPr>
          <p:cNvSpPr txBox="1">
            <a:spLocks noGrp="1" noRot="1" noMove="1" noResize="1" noEditPoints="1" noAdjustHandles="1" noChangeArrowheads="1"/>
          </p:cNvSpPr>
          <p:nvPr/>
        </p:nvSpPr>
        <p:spPr bwMode="auto">
          <a:xfrm>
            <a:off x="7967663" y="5194300"/>
            <a:ext cx="476726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en-US" altLang="zh-CN" sz="1600" b="1" dirty="0">
              <a:solidFill>
                <a:schemeClr val="bg1"/>
              </a:solidFill>
              <a:latin typeface="Akrobat" pitchFamily="2" charset="-52"/>
              <a:cs typeface="等线" panose="0201060003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ru-RU" altLang="zh-CN" sz="1600" b="1" dirty="0">
              <a:solidFill>
                <a:schemeClr val="bg1"/>
              </a:solidFill>
              <a:latin typeface="Akrobat" pitchFamily="2" charset="-52"/>
              <a:cs typeface="等线" panose="0201060003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ru-RU" altLang="zh-CN" sz="1600" b="1" dirty="0">
              <a:solidFill>
                <a:schemeClr val="bg1"/>
              </a:solidFill>
              <a:latin typeface="Akrobat" pitchFamily="2" charset="-52"/>
              <a:cs typeface="等线" panose="0201060003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"</a:t>
            </a:r>
            <a:r>
              <a:rPr lang="ru-RU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Управление и защита информации</a:t>
            </a:r>
            <a:r>
              <a:rPr lang="en-US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”</a:t>
            </a:r>
            <a:r>
              <a:rPr lang="ru-RU" altLang="zh-CN" sz="1600" b="1" dirty="0">
                <a:solidFill>
                  <a:schemeClr val="bg1"/>
                </a:solidFill>
                <a:latin typeface="Akrobat" pitchFamily="2" charset="-52"/>
                <a:cs typeface="等线" panose="02010600030101010101" pitchFamily="2" charset="-122"/>
              </a:rPr>
              <a:t> </a:t>
            </a:r>
          </a:p>
        </p:txBody>
      </p:sp>
      <p:pic>
        <p:nvPicPr>
          <p:cNvPr id="3084" name="Рисунок 1">
            <a:extLst>
              <a:ext uri="{FF2B5EF4-FFF2-40B4-BE49-F238E27FC236}">
                <a16:creationId xmlns:a16="http://schemas.microsoft.com/office/drawing/2014/main" id="{9679D281-B9CD-FBC0-D1C8-78479E3E6C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613" y="1833563"/>
            <a:ext cx="4686300" cy="1165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" name="Овал 38">
            <a:extLst>
              <a:ext uri="{FF2B5EF4-FFF2-40B4-BE49-F238E27FC236}">
                <a16:creationId xmlns:a16="http://schemas.microsoft.com/office/drawing/2014/main" id="{8B509149-C64E-D086-21CC-A49DD6B103B6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1610000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3086" name="Рисунок 33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20C66973-C85B-8AD6-C87B-9128DC86552E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Овал 19">
            <a:extLst>
              <a:ext uri="{FF2B5EF4-FFF2-40B4-BE49-F238E27FC236}">
                <a16:creationId xmlns:a16="http://schemas.microsoft.com/office/drawing/2014/main" id="{43857354-F8A8-2E53-4DB3-C5F9862B009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1610000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3088" name="Рисунок 27">
            <a:extLst>
              <a:ext uri="{FF2B5EF4-FFF2-40B4-BE49-F238E27FC236}">
                <a16:creationId xmlns:a16="http://schemas.microsoft.com/office/drawing/2014/main" id="{655ACD81-C1FB-0A61-CD0F-7BC66E60001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Овал 22">
            <a:extLst>
              <a:ext uri="{FF2B5EF4-FFF2-40B4-BE49-F238E27FC236}">
                <a16:creationId xmlns:a16="http://schemas.microsoft.com/office/drawing/2014/main" id="{08E3B59A-D6FD-7B6C-FAA5-09773995145F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1610000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3090" name="Рисунок 24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21D669E5-A011-257D-D60C-6023482BBD3A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E71FC67-D15C-4B72-B6BB-AF59EDE1E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</a:t>
            </a:fld>
            <a:endParaRPr lang="ru-RU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86483E-4C6C-63B7-0693-6E56251D4B1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13D1DC4A-ECF8-D802-5FCE-93A7D80A7A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5450" y="1292225"/>
            <a:ext cx="11341100" cy="5368925"/>
          </a:xfrm>
          <a:prstGeom prst="roundRect">
            <a:avLst>
              <a:gd name="adj" fmla="val 401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7C1977C-F3A6-4A26-88B1-73C68E8E98AF}"/>
              </a:ext>
            </a:extLst>
          </p:cNvPr>
          <p:cNvSpPr txBox="1"/>
          <p:nvPr/>
        </p:nvSpPr>
        <p:spPr>
          <a:xfrm>
            <a:off x="1120140" y="449580"/>
            <a:ext cx="51130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Текст программы на языке </a:t>
            </a:r>
            <a:r>
              <a:rPr lang="en-US" sz="2800" dirty="0">
                <a:solidFill>
                  <a:schemeClr val="bg1"/>
                </a:solidFill>
              </a:rPr>
              <a:t>C</a:t>
            </a:r>
          </a:p>
          <a:p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A5631AA-A306-4883-A03F-D11F680D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2</a:t>
            </a:fld>
            <a:endParaRPr lang="ru-RU" altLang="en-US"/>
          </a:p>
        </p:txBody>
      </p:sp>
      <p:pic>
        <p:nvPicPr>
          <p:cNvPr id="5" name="Рисунок 4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95F6669-F001-0F19-B96C-0CFF607BCE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427226"/>
            <a:ext cx="5120530" cy="5111686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D9CB682-9585-4AAD-C212-AB3A58E63B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3429000"/>
            <a:ext cx="5464134" cy="8090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86483E-4C6C-63B7-0693-6E56251D4B1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13D1DC4A-ECF8-D802-5FCE-93A7D80A7A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5450" y="1292225"/>
            <a:ext cx="11341100" cy="5368925"/>
          </a:xfrm>
          <a:prstGeom prst="roundRect">
            <a:avLst>
              <a:gd name="adj" fmla="val 401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7C1977C-F3A6-4A26-88B1-73C68E8E98AF}"/>
              </a:ext>
            </a:extLst>
          </p:cNvPr>
          <p:cNvSpPr txBox="1"/>
          <p:nvPr/>
        </p:nvSpPr>
        <p:spPr>
          <a:xfrm>
            <a:off x="502073" y="196850"/>
            <a:ext cx="108517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Текст программы на языке </a:t>
            </a:r>
            <a:r>
              <a:rPr lang="en-US" sz="2800" dirty="0">
                <a:solidFill>
                  <a:schemeClr val="bg1"/>
                </a:solidFill>
              </a:rPr>
              <a:t>C#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ru-RU" sz="2800" dirty="0">
                <a:solidFill>
                  <a:schemeClr val="bg1"/>
                </a:solidFill>
              </a:rPr>
              <a:t>Транслировали программу с помощью </a:t>
            </a:r>
            <a:r>
              <a:rPr lang="en-US" sz="2800" dirty="0">
                <a:solidFill>
                  <a:schemeClr val="bg1"/>
                </a:solidFill>
              </a:rPr>
              <a:t>https://www.deepseek.com/en/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FE08D20-4955-4B2B-8E2E-91698E8DD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3</a:t>
            </a:fld>
            <a:endParaRPr lang="ru-RU" altLang="en-US"/>
          </a:p>
        </p:txBody>
      </p:sp>
      <p:pic>
        <p:nvPicPr>
          <p:cNvPr id="7" name="Рисунок 6" descr="Изображение выглядит как текст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6792DB-D7F9-6579-C314-859D32429F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206" y="1574696"/>
            <a:ext cx="5395794" cy="4718296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Шрифт, снимок экрана, чер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C766336-A530-B89D-2EB3-8355147BB9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7167" y="3456669"/>
            <a:ext cx="5214627" cy="73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41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86483E-4C6C-63B7-0693-6E56251D4B1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13D1DC4A-ECF8-D802-5FCE-93A7D80A7A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5450" y="1292225"/>
            <a:ext cx="11341100" cy="5368925"/>
          </a:xfrm>
          <a:prstGeom prst="roundRect">
            <a:avLst>
              <a:gd name="adj" fmla="val 401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7C1977C-F3A6-4A26-88B1-73C68E8E98AF}"/>
              </a:ext>
            </a:extLst>
          </p:cNvPr>
          <p:cNvSpPr txBox="1"/>
          <p:nvPr/>
        </p:nvSpPr>
        <p:spPr>
          <a:xfrm>
            <a:off x="495934" y="196850"/>
            <a:ext cx="114359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Текст программы на языке </a:t>
            </a:r>
            <a:r>
              <a:rPr lang="en-US" sz="2800" dirty="0">
                <a:solidFill>
                  <a:schemeClr val="bg1"/>
                </a:solidFill>
              </a:rPr>
              <a:t>Python</a:t>
            </a:r>
            <a:endParaRPr lang="ru-RU" sz="2800" dirty="0">
              <a:solidFill>
                <a:schemeClr val="bg1"/>
              </a:solidFill>
            </a:endParaRPr>
          </a:p>
          <a:p>
            <a:r>
              <a:rPr lang="ru-RU" sz="2800" dirty="0">
                <a:solidFill>
                  <a:schemeClr val="bg1"/>
                </a:solidFill>
              </a:rPr>
              <a:t>Транслировали программу с помощью </a:t>
            </a:r>
            <a:r>
              <a:rPr lang="en-US" sz="2800" dirty="0">
                <a:solidFill>
                  <a:schemeClr val="bg1"/>
                </a:solidFill>
              </a:rPr>
              <a:t>https://www.deepseek.com/en/</a:t>
            </a:r>
            <a:endParaRPr lang="ru-RU" sz="2800" dirty="0">
              <a:solidFill>
                <a:schemeClr val="bg1"/>
              </a:solidFill>
            </a:endParaRPr>
          </a:p>
          <a:p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4701C6E-0123-4984-B4D6-899A9F374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4</a:t>
            </a:fld>
            <a:endParaRPr lang="ru-RU" altLang="en-US"/>
          </a:p>
        </p:txBody>
      </p:sp>
      <p:pic>
        <p:nvPicPr>
          <p:cNvPr id="6" name="Рисунок 5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9C638BE-41F2-E545-BDAA-BFAF265C3B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546363"/>
            <a:ext cx="6121893" cy="4860647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снимок экрана, Шриф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57A19F5-C509-54BC-75E4-0D7AD985DA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7026" y="3429000"/>
            <a:ext cx="4082458" cy="767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875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86483E-4C6C-63B7-0693-6E56251D4B1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FBA6715-1EEC-4DE1-9653-C1F08806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5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7DF929-5E63-4CC8-AC60-7E268D9A21BB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159FBF7-07C3-1142-3314-234253525F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421" y="175733"/>
            <a:ext cx="7590955" cy="325326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A9EB864-BC4C-BAB0-DF60-B7459F384C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2142" y="2543511"/>
            <a:ext cx="3344505" cy="57507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19E6492-E374-75EC-1598-127DAAEEA1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7828" y="3429000"/>
            <a:ext cx="7585097" cy="325326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E52B7CB-1F2D-4A0C-04F6-0773027ABA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513" y="5601425"/>
            <a:ext cx="2961825" cy="529868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55C3502-5F81-9511-01FC-1FCC6B34103A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файла на языке С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F8F570-4F76-DC3E-96AE-2B575C058909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 С</a:t>
            </a:r>
          </a:p>
        </p:txBody>
      </p:sp>
    </p:spTree>
    <p:extLst>
      <p:ext uri="{BB962C8B-B14F-4D97-AF65-F5344CB8AC3E}">
        <p14:creationId xmlns:p14="http://schemas.microsoft.com/office/powerpoint/2010/main" val="4287431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AECBC-FB62-E680-903C-2C187C0D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D40F3A4A-51FD-4368-4893-EC0B47CFD5C5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919DF6DD-9F93-3210-DA77-0877C5EEF7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10C46C33-2E32-D793-24C0-A8D054B2CE48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4F318944-B97D-5BA0-64E7-4AF5941FB8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37693EDD-351C-B200-43C1-7614DAC0459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AB079499-0F8D-267E-A3B5-C94AEDFB2B1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D87F01A3-F395-CE57-6FF5-A9519C68D613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AAB6586-AA23-8ED7-9C07-E452EDA19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6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1C7316-7F5D-FB67-218D-A54F956ADF09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BD12887-345B-10B0-3932-8AF98089B1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421" y="194162"/>
            <a:ext cx="7590955" cy="3216409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747C40A-1EE6-8E96-B13C-F06F9A387B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03867" y="2543511"/>
            <a:ext cx="3321055" cy="57507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6DE33A6-7102-1714-C94F-F95E983D51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05326" y="3406284"/>
            <a:ext cx="7557698" cy="3275983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35F5C72-5EA7-1BD4-EDED-8DA7E6D909C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2513" y="5631501"/>
            <a:ext cx="2961825" cy="46971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1AFBDDA0-754D-89D5-F17E-EAA06BCC3BB1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файла на языке С</a:t>
            </a:r>
            <a:r>
              <a:rPr lang="en-US" sz="2400" dirty="0">
                <a:solidFill>
                  <a:schemeClr val="bg1"/>
                </a:solidFill>
              </a:rPr>
              <a:t>#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0BB26A-8373-95C6-7CC8-887F4E709DB5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 С</a:t>
            </a:r>
            <a:r>
              <a:rPr lang="en-US" sz="2400" dirty="0">
                <a:solidFill>
                  <a:schemeClr val="bg1"/>
                </a:solidFill>
              </a:rPr>
              <a:t>#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6643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F9D94-06EA-DC7C-7755-28B8DF7D2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84824D3D-DFE8-4705-A4CA-8DC387615739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822646C5-1F75-BBA6-7FE6-9A42B01878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3F592CB-A9C1-10AC-9484-081BDFAF9A96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0D8F9588-DFB0-466B-1122-AFB6F1FFAC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819B8F2F-7180-3811-CE00-4F847FECFE78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2644B038-20F4-D7AE-FA24-C39AF5606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A153088B-B7BE-B163-D536-6B51B31BFD1D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C33B96A-4184-B578-8E4C-3DD7F542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7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9CE32-641F-031D-A461-767AB82BB84C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9B09BB9-9164-2409-7499-D25C27DF88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1648" y="194162"/>
            <a:ext cx="7518500" cy="3216409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164FD0B-434B-31E3-D2CE-5187082F679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11055" y="2543511"/>
            <a:ext cx="3306678" cy="57507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1E83B55-D8EC-73EA-9A90-AC096B282C2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10468" y="3410571"/>
            <a:ext cx="7552556" cy="326963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28AA0BF-A30B-0CBF-ED3D-D0A983E920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991" y="5631501"/>
            <a:ext cx="2700869" cy="46971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88E22D46-FA4A-403D-7BB1-5F80DAE95164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файла на языке </a:t>
            </a:r>
            <a:r>
              <a:rPr lang="en-US" sz="2400" dirty="0">
                <a:solidFill>
                  <a:schemeClr val="bg1"/>
                </a:solidFill>
              </a:rPr>
              <a:t>Python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657D51-DB39-46C6-B65E-2A2002099433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Python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892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86483E-4C6C-63B7-0693-6E56251D4B1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7C1977C-F3A6-4A26-88B1-73C68E8E98AF}"/>
              </a:ext>
            </a:extLst>
          </p:cNvPr>
          <p:cNvSpPr txBox="1"/>
          <p:nvPr/>
        </p:nvSpPr>
        <p:spPr>
          <a:xfrm>
            <a:off x="519006" y="331046"/>
            <a:ext cx="114867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Изображение в двух форматах в </a:t>
            </a:r>
            <a:r>
              <a:rPr lang="en-US" sz="2800" dirty="0">
                <a:solidFill>
                  <a:schemeClr val="bg1"/>
                </a:solidFill>
              </a:rPr>
              <a:t>.jpg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>
                <a:solidFill>
                  <a:schemeClr val="bg1"/>
                </a:solidFill>
              </a:rPr>
              <a:t>.bmp3</a:t>
            </a:r>
          </a:p>
          <a:p>
            <a:r>
              <a:rPr lang="ru-RU" sz="2800" dirty="0">
                <a:solidFill>
                  <a:schemeClr val="bg1"/>
                </a:solidFill>
              </a:rPr>
              <a:t>Конвертировали в другие файлы с помощью</a:t>
            </a:r>
          </a:p>
          <a:p>
            <a:r>
              <a:rPr lang="en-US" sz="2800" dirty="0">
                <a:solidFill>
                  <a:schemeClr val="bg1"/>
                </a:solidFill>
              </a:rPr>
              <a:t>https://convertio.co/ru/png-bmp/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F25D3FE-AF58-4F0E-AF34-7F6C55E1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8</a:t>
            </a:fld>
            <a:endParaRPr lang="ru-RU" alt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E6A26FC-9F69-0D2C-933F-AB43AE873A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966" y="1837678"/>
            <a:ext cx="7454283" cy="4193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420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DF6C8-14D8-F8AD-F555-9E28EFB6B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52D9CD32-0109-58DD-A575-39CC817E637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E8F0B225-A237-6741-F3A9-EB7601D8EA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B51E4DAC-0994-D9B8-D166-11726FEEB6B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B9DF5F63-8C48-F848-12A4-611B3CFB78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596B84E5-55A3-D645-BD77-0ED6FCDB4E8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AB1C3D01-BB7D-3C72-A6D2-2D46D4DB7B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809BAAE9-6DDC-F755-38E6-3AD481645128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749EDDA-9523-392E-9C98-42E38C283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9</a:t>
            </a:fld>
            <a:endParaRPr lang="ru-RU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7EFC10-1559-96DC-90CF-6914AFAE91D1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C6E3B12-0DDF-D15E-32C9-5932B481E9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258"/>
          <a:stretch>
            <a:fillRect/>
          </a:stretch>
        </p:blipFill>
        <p:spPr>
          <a:xfrm>
            <a:off x="88645" y="494742"/>
            <a:ext cx="7780755" cy="266972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AAF5883-4696-D948-FADE-1703422A45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078E879-CF47-DC4D-0669-074C59669C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08350" y="3676371"/>
            <a:ext cx="7894575" cy="2673163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E223670-F300-5E9D-B93A-9864C8804A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118EBF8-0A68-EA95-571F-75C8153A8B63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.jpg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AA60E4-559B-D1CF-A81F-730C55529B8B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.jpg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8354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BFA6A-539A-12FF-93D2-AB32AA2F6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D83F741E-9F71-8697-DC04-0E64027907EA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1E0BEA35-85FE-3A3A-998D-0500AAD148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F932B6EA-5CE0-AEC1-1A0E-0E325787ECD2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F96363-E683-0DBE-A1E1-128EA63C47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DEDE4C04-C187-198E-84B4-E49FFB8E50B8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E10380EE-1841-D6E6-9DD9-A21B4B3647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C662AFA6-9EF6-24B0-CE6D-54241E1E8629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252EAE1-71FA-42B6-37CB-07614C5FE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10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9677B-6AC3-A126-204B-F82C79B53783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1E3853A-812D-33DF-4313-4A5146190A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" t="-866" r="94" b="866"/>
          <a:stretch>
            <a:fillRect/>
          </a:stretch>
        </p:blipFill>
        <p:spPr>
          <a:xfrm>
            <a:off x="89075" y="807546"/>
            <a:ext cx="7686388" cy="207727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9A647F6-3DF3-BC3C-1733-B8C70ED2CA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F61CD69-92E2-B764-3FCA-03E3327310B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08350" y="3681600"/>
            <a:ext cx="7894575" cy="266270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791441F-FDB8-88F1-BB95-3692244666A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70842808-1BA6-BF61-DBB7-A7BC901BC74A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.bmp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6CE612-2C84-C1C2-B716-AC4795118265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.bmp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7418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00794-5224-4872-4A7C-C01B4E9B2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16FDC64B-EB7E-2B63-C142-044A6E202334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32103E68-82C4-C04A-7557-0643DAFBAE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BFAEBAA8-7457-7CB4-3036-AC1081B78380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4569DC5-F472-3DE8-5784-B315CB1B70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63FF05AE-47D7-4936-48F5-181C3F2BC64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AB66268D-8AB3-EE45-6463-591B479261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7DEFEF44-3470-5811-99E4-543A5D188887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6969F61-9673-92F6-89B8-144DEC27E596}"/>
              </a:ext>
            </a:extLst>
          </p:cNvPr>
          <p:cNvSpPr txBox="1"/>
          <p:nvPr/>
        </p:nvSpPr>
        <p:spPr>
          <a:xfrm>
            <a:off x="519006" y="331046"/>
            <a:ext cx="114867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Текстовый файл в форматах </a:t>
            </a:r>
            <a:r>
              <a:rPr lang="en-US" sz="2800" dirty="0">
                <a:solidFill>
                  <a:schemeClr val="bg1"/>
                </a:solidFill>
              </a:rPr>
              <a:t>.docx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>
                <a:solidFill>
                  <a:schemeClr val="bg1"/>
                </a:solidFill>
              </a:rPr>
              <a:t>.txt</a:t>
            </a:r>
          </a:p>
          <a:p>
            <a:r>
              <a:rPr lang="ru-RU" sz="2800" dirty="0">
                <a:solidFill>
                  <a:schemeClr val="bg1"/>
                </a:solidFill>
              </a:rPr>
              <a:t>Конвертировали в другие файлы с помощью</a:t>
            </a:r>
          </a:p>
          <a:p>
            <a:r>
              <a:rPr lang="en-US" sz="2800" dirty="0">
                <a:solidFill>
                  <a:schemeClr val="bg1"/>
                </a:solidFill>
              </a:rPr>
              <a:t>https://convertio.co/ru/docx-txt/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BE8F0B0-BD31-F58E-BAC7-FB8F54EF7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11</a:t>
            </a:fld>
            <a:endParaRPr lang="ru-RU" altLang="en-US"/>
          </a:p>
        </p:txBody>
      </p:sp>
      <p:pic>
        <p:nvPicPr>
          <p:cNvPr id="7" name="Рисунок 6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EF2D14B-D630-6B28-E9B3-501530DF4A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8136" y="1868688"/>
            <a:ext cx="3371064" cy="4487662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31C9402-B5D5-FDCD-56FC-33E9E94E72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742" y="1997414"/>
            <a:ext cx="3845122" cy="423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343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2BA05-86A9-37D9-A137-7FC7208BA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B251DE72-B4E1-DCE9-449C-9B2219BBBE96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2011FCDB-9B75-7216-022A-E5CFA4C56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750A9C09-CE97-F5A0-F800-2E2DFCEB6325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98D0B98C-B585-9FE9-61FA-B8A2170788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9D2B696D-FCA8-244D-F3EF-7A87684C58D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0FEE59B3-D6FA-1EAA-9635-AAA450BAA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A4B1273B-0925-37E1-27C3-884C8FC285DE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92E2AEB-B74C-4D51-1408-084CE84B3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12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D4905-4821-53DB-6B7D-91DE46777AAE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CCF90E8-25F3-8ED4-A3A3-28D8BBF231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" b="-1089"/>
          <a:stretch>
            <a:fillRect/>
          </a:stretch>
        </p:blipFill>
        <p:spPr>
          <a:xfrm>
            <a:off x="89075" y="208591"/>
            <a:ext cx="7686388" cy="331584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8F32F77-2DC0-0DF5-30D8-CD64CD6E6E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133FD56-7391-AA4D-D8D1-CE39609C10D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7019" y="3602527"/>
            <a:ext cx="6591707" cy="268497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CF590E9-2FA7-DC88-58DF-BF34FC479CC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3945BF8-FFD5-9EFA-B3C4-E1A0C3E508D6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.docx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7FA91C-624F-C87A-D179-8290505FE937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.docx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6026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39293-0D0B-7910-3C9A-64DCB22A1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3D50E8B0-1E92-15D4-901B-E83E59B1B8E1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06096B58-0CCE-88EB-F513-05B9E73536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1964317A-408A-B7F4-644F-7E64B7501DF9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B43924C2-5B3B-AE4A-F851-A9AF035263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E89C0D8-AC69-F646-268B-07A9154C2A5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576C1190-B1C7-EA3D-AD81-5BA9C3949D6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DC7E27B1-CFD6-D40F-EC12-DF3627C3B4C1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5DC740D-0C10-117C-9017-4DD588A4E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13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0AC5F4-F6DE-1101-58A3-4DE0273A79BF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F5CF74E-F952-8504-FB41-0204C72424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" r="-261"/>
          <a:stretch>
            <a:fillRect/>
          </a:stretch>
        </p:blipFill>
        <p:spPr>
          <a:xfrm>
            <a:off x="165421" y="212016"/>
            <a:ext cx="7738822" cy="313486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FCEFBA8-C2EE-6E60-12E3-5469E05BD68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B9763C90-4EF4-FFD7-BE63-B9F80ED5BD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6702" y="3429000"/>
            <a:ext cx="6626993" cy="285850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8DF78E2-23F4-C27E-D3B3-49F96F2E6F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374E7EA-D5AB-A0AE-7E77-80B56911A4AD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.txt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05821F-C114-45AF-3C67-7388A051F92D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.txt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9364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53E5-23AE-E653-0456-15B1A00BE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51BEBBE1-EF55-A600-214A-3D8A6A397721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154D4BA4-B82F-87A2-2111-4A9CF5FE2A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BD888DE4-8CD1-B4EC-0844-10C453E8F3FE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DEA25058-D4B5-EA85-042E-7370A0E7F8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6E3D1D22-2E7E-D586-D5ED-90F68725D88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4A271065-835A-FCF8-2510-CDF8F6DC85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9C385517-F13E-B3C8-A729-C0B4DD0BA2F5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5B4FCB4-4497-84DA-3D66-BCED5C6B5DC5}"/>
              </a:ext>
            </a:extLst>
          </p:cNvPr>
          <p:cNvSpPr txBox="1"/>
          <p:nvPr/>
        </p:nvSpPr>
        <p:spPr>
          <a:xfrm>
            <a:off x="519006" y="331046"/>
            <a:ext cx="114867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Текстовый файл в форматах </a:t>
            </a:r>
            <a:r>
              <a:rPr lang="en-US" sz="2800" dirty="0">
                <a:solidFill>
                  <a:schemeClr val="bg1"/>
                </a:solidFill>
              </a:rPr>
              <a:t>.mp3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>
                <a:solidFill>
                  <a:schemeClr val="bg1"/>
                </a:solidFill>
              </a:rPr>
              <a:t>.wav</a:t>
            </a:r>
          </a:p>
          <a:p>
            <a:r>
              <a:rPr lang="ru-RU" sz="2800" dirty="0">
                <a:solidFill>
                  <a:schemeClr val="bg1"/>
                </a:solidFill>
              </a:rPr>
              <a:t>Конвертировали в другие файлы с помощью</a:t>
            </a:r>
          </a:p>
          <a:p>
            <a:r>
              <a:rPr lang="en-US" sz="2800" dirty="0">
                <a:solidFill>
                  <a:schemeClr val="bg1"/>
                </a:solidFill>
              </a:rPr>
              <a:t>https://convertio.co/ru/mp3-wav/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C2EEB43-66A5-6E66-4EE1-0B7FF3ED2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14</a:t>
            </a:fld>
            <a:endParaRPr lang="ru-RU" altLang="en-US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5E74C5B-D13B-AC3C-07F3-75AE78FC6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7356" y="2182626"/>
            <a:ext cx="2657846" cy="3781953"/>
          </a:xfrm>
          <a:prstGeom prst="rect">
            <a:avLst/>
          </a:prstGeom>
        </p:spPr>
      </p:pic>
      <p:pic>
        <p:nvPicPr>
          <p:cNvPr id="6" name="Рисунок 5" descr="Изображение выглядит как снимок экрана, текст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B0B60B4-98A8-6D05-370F-04C38073CE7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1515" y="2182626"/>
            <a:ext cx="276263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987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8CD59-E6B0-FF4F-281E-F8BB4B9C9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0B19E47D-B078-66E7-C8CC-F9B27502E2A6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CE78C4C6-CF91-39FB-0F38-ACCD862BCA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BA685D7-3D6A-F6BA-6D37-27FEA765C1A1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DA0D4753-0546-2150-40B4-516361B999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C9319F3E-33DE-9960-7ED1-75A60A3803F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867BFE27-D91B-4283-7E8A-30F2C57071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D42A00CF-111C-E465-88AF-F74A3BBBD33E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8171EBE-445C-F5C1-1133-4CD3FDD4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15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F5BE84-3D20-6B7E-96A9-A406ECC5B139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26D316D-80E3-3A2A-A213-26A827CF5E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0374E42-C39A-21AF-B64D-E4828C12F2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C4F1CF8-2838-4168-E9AD-5411FC759F5F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.mp3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05678F-428E-77AD-30E2-FABAE3B2424A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.mp3</a:t>
            </a:r>
            <a:endParaRPr lang="ru-RU" sz="24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41EF303-CB9F-C0DA-ED42-CD6E30C7B6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421" y="396390"/>
            <a:ext cx="7537142" cy="243205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EED8CA8-B745-ED84-9380-DDF21CE415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5638" y="3524435"/>
            <a:ext cx="7800941" cy="262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60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88734-4740-52DA-A5E5-90BF75365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D16D8154-74E6-118C-1F07-3CF0EC21203F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ACC74B29-EDC2-E448-9FB2-6734EFFE3C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63FF8736-6490-ED22-683B-1A481B6CC53A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E31AED6-DD03-9962-442D-04C9516059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8419C564-78DF-1B6F-173A-C1254137025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C6A49FC4-9E01-6248-FDC9-8C99B6E8DB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DE433E0A-08CC-2828-120E-82D73192C6DA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13D58F6-A2F0-44AA-0510-7DC14DA23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16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D30D9-24FA-9621-277E-9D1C065A0D1A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148C655-F0B8-26F3-1E08-36CB8E5A33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87C68E6-B02A-38F7-9FF5-14425E8C260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6593466-AA72-F183-ADF8-2B7230E99916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.wav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68D4DE-5E98-FF69-0327-745D1A9F4AC1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.wav</a:t>
            </a:r>
            <a:endParaRPr lang="ru-RU" sz="24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29BA09C-C1CD-0801-797C-AB928BAE08C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108" y="396390"/>
            <a:ext cx="7301768" cy="243205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51C4CD6-1357-3CE8-621A-8C2D0180B2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28615" y="3524435"/>
            <a:ext cx="7794986" cy="262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436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CB8C-A420-0FD1-C280-CFBB3E0EA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9DD1D2-0540-6875-3DF2-EEF23B441501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B84B21EF-2C68-333F-BF31-0BAD8695529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81DFF3A7-0D6A-219B-694B-7BFC0458D7A8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05B22D0D-2746-5F76-AD4F-5A8024BDCE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D95AD4EA-9AA7-5525-A7A7-B151315A6403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1C738272-533E-9247-2C17-5CDD0C793B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A3E1FFF3-C408-F953-0D41-CFE0DFBB16BF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02384BB-12AE-0777-8757-44374E8B4218}"/>
              </a:ext>
            </a:extLst>
          </p:cNvPr>
          <p:cNvSpPr txBox="1"/>
          <p:nvPr/>
        </p:nvSpPr>
        <p:spPr>
          <a:xfrm>
            <a:off x="519006" y="331046"/>
            <a:ext cx="114867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Текстовый файл в форматах </a:t>
            </a:r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>
                <a:solidFill>
                  <a:schemeClr val="bg1"/>
                </a:solidFill>
              </a:rPr>
              <a:t>xlsm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>
                <a:solidFill>
                  <a:schemeClr val="bg1"/>
                </a:solidFill>
              </a:rPr>
              <a:t>.</a:t>
            </a:r>
            <a:r>
              <a:rPr lang="en-US" sz="2800" dirty="0" err="1">
                <a:solidFill>
                  <a:schemeClr val="bg1"/>
                </a:solidFill>
              </a:rPr>
              <a:t>xslx</a:t>
            </a:r>
            <a:endParaRPr lang="en-US" sz="2800" dirty="0">
              <a:solidFill>
                <a:schemeClr val="bg1"/>
              </a:solidFill>
            </a:endParaRPr>
          </a:p>
          <a:p>
            <a:r>
              <a:rPr lang="ru-RU" sz="2800" dirty="0">
                <a:solidFill>
                  <a:schemeClr val="bg1"/>
                </a:solidFill>
              </a:rPr>
              <a:t>Конвертировали в другие файлы с помощью</a:t>
            </a:r>
          </a:p>
          <a:p>
            <a:r>
              <a:rPr lang="en-US" sz="2800" dirty="0">
                <a:solidFill>
                  <a:schemeClr val="bg1"/>
                </a:solidFill>
              </a:rPr>
              <a:t>https://products.aspose.app/cells/ru/conversion/xlsx-to-xlsm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08C96CF-7E72-5353-9073-2DFB2608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17</a:t>
            </a:fld>
            <a:endParaRPr lang="ru-RU" altLang="en-US"/>
          </a:p>
        </p:txBody>
      </p:sp>
      <p:pic>
        <p:nvPicPr>
          <p:cNvPr id="5" name="Рисунок 4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BF43D87-7EDF-E8A9-3395-4EF29E8FF4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3409" y="2062270"/>
            <a:ext cx="4325181" cy="407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1797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82EAD-101C-5A05-FD5B-4F2AAE1C4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8FA8EAAE-3ED3-8E87-A87D-03D8EF7F4C4B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C6EC6B68-3938-B6DA-3B6D-E41E91F8BC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5427F841-95DC-D77B-2A4F-1D19F9A58059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74D44882-16A5-B7DB-9EC8-B797BF6F50E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25987542-7CAF-5788-F0B9-76B39EE3E5F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EE7BB5A5-AC84-EED4-D1AF-FF8AF26FC8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2982CB0A-E861-AABC-A039-AA65D660580B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63509E5-5F51-F9A7-2714-D52F96262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18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F5ECCB-F13E-8008-E671-28563A439B9B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BF0BB86-19E3-8232-3921-E1BB17476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C45F6F7-2253-E5B5-A785-78FA564186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CDF278E-68DC-7CAD-0F65-9C481205856C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  <a:r>
              <a:rPr lang="en-US" sz="2400" dirty="0" err="1">
                <a:solidFill>
                  <a:schemeClr val="bg1"/>
                </a:solidFill>
              </a:rPr>
              <a:t>xlsm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B925AB-9963-C74B-B037-32DB5C14F66F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</a:t>
            </a:r>
            <a:r>
              <a:rPr lang="en-US" sz="2400" dirty="0" err="1">
                <a:solidFill>
                  <a:schemeClr val="bg1"/>
                </a:solidFill>
              </a:rPr>
              <a:t>xlsm</a:t>
            </a:r>
            <a:endParaRPr lang="ru-RU" sz="24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CB6EC0-74C7-630F-D47D-E0143831D1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421" y="414199"/>
            <a:ext cx="7754435" cy="266635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574E96-E84C-16AB-FF24-A5A0D78BC8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28615" y="3527514"/>
            <a:ext cx="7794986" cy="2622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35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8FD0B-35CC-C83C-1B5A-B078DF91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FBE2F901-4FF6-2296-EBE8-1BD6923AF564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8D2E3390-3BB2-A20E-302E-BE0A724109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4A9D0F2A-B84D-F692-B099-39EB88354B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69814553-8846-7687-2E9A-087BE735EE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21FF7E62-FC3E-F3EE-0F21-465DEE637058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CD7B0920-CAC6-170F-25E8-DF719A72EE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EA6EBC57-DD74-94EC-59A7-34B1FA41A280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5E25B50-BE65-C0ED-57CA-67010E1B1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19</a:t>
            </a:fld>
            <a:endParaRPr lang="ru-RU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F55D3-823B-FA52-D394-77E555098ED1}"/>
              </a:ext>
            </a:extLst>
          </p:cNvPr>
          <p:cNvSpPr txBox="1"/>
          <p:nvPr/>
        </p:nvSpPr>
        <p:spPr>
          <a:xfrm>
            <a:off x="1073272766" y="1073268533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1F593E3-4350-5D98-2C9A-B02B8563A3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1" r="74759" b="50118"/>
          <a:stretch>
            <a:fillRect/>
          </a:stretch>
        </p:blipFill>
        <p:spPr>
          <a:xfrm>
            <a:off x="8116278" y="2237173"/>
            <a:ext cx="3735412" cy="59127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B3B0573-49F0-6117-A89F-8E998C90E3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891" r="74906"/>
          <a:stretch>
            <a:fillRect/>
          </a:stretch>
        </p:blipFill>
        <p:spPr>
          <a:xfrm>
            <a:off x="223053" y="5459178"/>
            <a:ext cx="3755969" cy="59127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7665D259-E199-C969-DF9F-123FFB146903}"/>
              </a:ext>
            </a:extLst>
          </p:cNvPr>
          <p:cNvSpPr txBox="1"/>
          <p:nvPr/>
        </p:nvSpPr>
        <p:spPr>
          <a:xfrm>
            <a:off x="7848600" y="208591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неупакованного изображения </a:t>
            </a:r>
            <a:r>
              <a:rPr lang="en-US" sz="2400" dirty="0">
                <a:solidFill>
                  <a:schemeClr val="bg1"/>
                </a:solidFill>
              </a:rPr>
              <a:t>.xlsx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96D7C5-08D2-A0B3-85EC-74ED0355E598}"/>
              </a:ext>
            </a:extLst>
          </p:cNvPr>
          <p:cNvSpPr txBox="1"/>
          <p:nvPr/>
        </p:nvSpPr>
        <p:spPr>
          <a:xfrm>
            <a:off x="165421" y="3744685"/>
            <a:ext cx="42543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Гистограмма и энтропия программы упакованного файла на языке</a:t>
            </a:r>
            <a:r>
              <a:rPr lang="en-US" sz="2400" dirty="0">
                <a:solidFill>
                  <a:schemeClr val="bg1"/>
                </a:solidFill>
              </a:rPr>
              <a:t> .xlsx</a:t>
            </a:r>
            <a:endParaRPr lang="ru-RU" sz="2400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D65AAAC-E8EC-AB27-500F-654AAA88C6D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5421" y="484890"/>
            <a:ext cx="7754435" cy="252496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0C8207E-AA07-8234-1365-01F50CD5C73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2957" y="3527514"/>
            <a:ext cx="7746302" cy="2622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590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86483E-4C6C-63B7-0693-6E56251D4B1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7C1977C-F3A6-4A26-88B1-73C68E8E98AF}"/>
              </a:ext>
            </a:extLst>
          </p:cNvPr>
          <p:cNvSpPr txBox="1"/>
          <p:nvPr/>
        </p:nvSpPr>
        <p:spPr>
          <a:xfrm>
            <a:off x="194733" y="474979"/>
            <a:ext cx="107475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Таблица расчета энтропии и размеров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38EFBE6-C894-4A89-9CA3-CA723BA42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20</a:t>
            </a:fld>
            <a:endParaRPr lang="ru-RU" altLang="en-US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3C5FA7D-B0DC-4868-98B4-ECEEE5F11E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2701" y="1695875"/>
            <a:ext cx="10666597" cy="346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7474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Рисунок 8" descr="Изображение выглядит как Графика, графический дизайн, Красочность, творческий подход&#10;&#10;Автоматически созданное описание">
            <a:extLst>
              <a:ext uri="{FF2B5EF4-FFF2-40B4-BE49-F238E27FC236}">
                <a16:creationId xmlns:a16="http://schemas.microsoft.com/office/drawing/2014/main" id="{7286483E-4C6C-63B7-0693-6E56251D4B13}"/>
              </a:ext>
            </a:extLst>
          </p:cNvPr>
          <p:cNvPicPr>
            <a:picLocks noGrp="1" noRot="1" noChangeAspect="1" noMove="1" noResize="1" noEditPoints="1" noAdjustHandles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915" t="35150" r="4289" b="9506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13D1DC4A-ECF8-D802-5FCE-93A7D80A7A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5450" y="1292225"/>
            <a:ext cx="11341100" cy="5368925"/>
          </a:xfrm>
          <a:prstGeom prst="roundRect">
            <a:avLst>
              <a:gd name="adj" fmla="val 401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3696E3D-4A56-2548-2F07-55F12C75A4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38" name="Рисунок 22" descr="Изображение выглядит как Шрифт, Графика, снимок экрана, графический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076F6B9F-CD0A-71B8-CB9F-52F0EBD98194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94"/>
          <a:stretch>
            <a:fillRect/>
          </a:stretch>
        </p:blipFill>
        <p:spPr bwMode="auto">
          <a:xfrm>
            <a:off x="2147483647" y="1260782975"/>
            <a:ext cx="742950000" cy="737512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201D9755-77E2-02B3-A2E7-CF079C081B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91638425"/>
            <a:ext cx="1448228625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0" name="Рисунок 24">
            <a:extLst>
              <a:ext uri="{FF2B5EF4-FFF2-40B4-BE49-F238E27FC236}">
                <a16:creationId xmlns:a16="http://schemas.microsoft.com/office/drawing/2014/main" id="{48494700-E735-790E-C51C-476C510E37AF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0" t="5392" r="71927" b="9119"/>
          <a:stretch>
            <a:fillRect/>
          </a:stretch>
        </p:blipFill>
        <p:spPr bwMode="auto">
          <a:xfrm>
            <a:off x="2147483647" y="1051829875"/>
            <a:ext cx="1021600700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Овал 25">
            <a:extLst>
              <a:ext uri="{FF2B5EF4-FFF2-40B4-BE49-F238E27FC236}">
                <a16:creationId xmlns:a16="http://schemas.microsoft.com/office/drawing/2014/main" id="{B9587E58-F5B6-0507-E6E6-B9B6D69050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47483647" y="870645325"/>
            <a:ext cx="1452154513" cy="145161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lang="ru-RU" noProof="1"/>
          </a:p>
        </p:txBody>
      </p:sp>
      <p:pic>
        <p:nvPicPr>
          <p:cNvPr id="5142" name="Рисунок 26" descr="Изображение выглядит как символ, корона, герб, эмблема&#10;&#10;Автоматически созданное описание">
            <a:extLst>
              <a:ext uri="{FF2B5EF4-FFF2-40B4-BE49-F238E27FC236}">
                <a16:creationId xmlns:a16="http://schemas.microsoft.com/office/drawing/2014/main" id="{FD01C6F9-BBDF-0EB4-F69F-43904BA577EC}"/>
              </a:ext>
            </a:extLst>
          </p:cNvPr>
          <p:cNvPicPr>
            <a:picLocks noGrp="1" noRot="1" noMove="1" noResize="1" noEditPoints="1" noAdjustHandles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83647" y="1051829875"/>
            <a:ext cx="1044630563" cy="11430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7C1977C-F3A6-4A26-88B1-73C68E8E98AF}"/>
              </a:ext>
            </a:extLst>
          </p:cNvPr>
          <p:cNvSpPr txBox="1"/>
          <p:nvPr/>
        </p:nvSpPr>
        <p:spPr>
          <a:xfrm>
            <a:off x="519006" y="331046"/>
            <a:ext cx="68723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Выводы</a:t>
            </a:r>
            <a:r>
              <a:rPr lang="en-US" sz="2800" dirty="0">
                <a:solidFill>
                  <a:schemeClr val="bg1"/>
                </a:solidFill>
              </a:rPr>
              <a:t>: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C2A006-0A85-4B28-9C6E-B918AAA1019D}"/>
              </a:ext>
            </a:extLst>
          </p:cNvPr>
          <p:cNvSpPr txBox="1"/>
          <p:nvPr/>
        </p:nvSpPr>
        <p:spPr>
          <a:xfrm>
            <a:off x="770467" y="1693333"/>
            <a:ext cx="104394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ru-RU" dirty="0"/>
              <a:t>Наибольшая эффективность упаковки наблюдается у программ на C и C#: после сжатия существенно уменьшается размер файла и возрастает энтропия, что указывает на наличие статистической избыточности в исходных бинарных данных.</a:t>
            </a:r>
          </a:p>
          <a:p>
            <a:pPr marL="342900" indent="-342900">
              <a:buAutoNum type="arabicPeriod"/>
            </a:pPr>
            <a:r>
              <a:rPr lang="ru-RU" dirty="0"/>
              <a:t>Python-файл изменился незначительно, что говорит о более равномерном распределении байтов в исходном виде и меньшем потенциале дополнительного сжатия.</a:t>
            </a:r>
          </a:p>
          <a:p>
            <a:pPr marL="342900" indent="-342900">
              <a:buAutoNum type="arabicPeriod"/>
            </a:pPr>
            <a:r>
              <a:rPr lang="ru-RU" dirty="0"/>
              <a:t>Текстовые форматы (.</a:t>
            </a:r>
            <a:r>
              <a:rPr lang="ru-RU" dirty="0" err="1"/>
              <a:t>txt</a:t>
            </a:r>
            <a:r>
              <a:rPr lang="ru-RU" dirty="0"/>
              <a:t>, .</a:t>
            </a:r>
            <a:r>
              <a:rPr lang="ru-RU" dirty="0" err="1"/>
              <a:t>docx</a:t>
            </a:r>
            <a:r>
              <a:rPr lang="ru-RU" dirty="0"/>
              <a:t>) показали умеренный эффект: обычный текстовый файл поддаётся сжатию, тогда как .</a:t>
            </a:r>
            <a:r>
              <a:rPr lang="ru-RU" dirty="0" err="1"/>
              <a:t>docx</a:t>
            </a:r>
            <a:r>
              <a:rPr lang="ru-RU" dirty="0"/>
              <a:t> уже содержит встроенное архивирование, поэтому повторная упаковка влияет ограниченно.</a:t>
            </a:r>
          </a:p>
          <a:p>
            <a:pPr marL="342900" indent="-342900">
              <a:buAutoNum type="arabicPeriod"/>
            </a:pPr>
            <a:r>
              <a:rPr lang="ru-RU" dirty="0"/>
              <a:t>Электронные таблицы (.</a:t>
            </a:r>
            <a:r>
              <a:rPr lang="ru-RU" dirty="0" err="1"/>
              <a:t>xlsx</a:t>
            </a:r>
            <a:r>
              <a:rPr lang="ru-RU" dirty="0"/>
              <a:t>, .</a:t>
            </a:r>
            <a:r>
              <a:rPr lang="ru-RU" dirty="0" err="1"/>
              <a:t>xlsm</a:t>
            </a:r>
            <a:r>
              <a:rPr lang="ru-RU" dirty="0"/>
              <a:t>) также демонстрируют незначительное изменение энтропии, поскольку изначально используют ZIP-структуру, однако наличие внутренней избыточности позволяет дополнительно уменьшить размер.</a:t>
            </a:r>
          </a:p>
          <a:p>
            <a:pPr marL="342900" indent="-342900">
              <a:buAutoNum type="arabicPeriod"/>
            </a:pPr>
            <a:r>
              <a:rPr lang="ru-RU" dirty="0"/>
              <a:t>Графические и аудиоформаты (.</a:t>
            </a:r>
            <a:r>
              <a:rPr lang="ru-RU" dirty="0" err="1"/>
              <a:t>jpg</a:t>
            </a:r>
            <a:r>
              <a:rPr lang="ru-RU" dirty="0"/>
              <a:t>, .mp3) практически не изменяются при повторной упаковке, так как уже являются сжатыми форматами; для несжатых форматов эффект выражен слабее и зависит от структуры конкретного файла.</a:t>
            </a:r>
          </a:p>
          <a:p>
            <a:pPr marL="342900" indent="-342900">
              <a:buAutoNum type="arabicPeriod"/>
            </a:pPr>
            <a:r>
              <a:rPr lang="ru-RU" dirty="0"/>
              <a:t>Общий итог: эффективность сжатия определяется степенью исходной избыточности данных — чем менее равномерно распределены байты и ниже начальная энтропия, тем заметнее результат упаковки.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34322CB-B61A-4DDC-8A8C-845EE184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F1E390-58D5-46F8-9BB8-613D346979AB}" type="slidenum">
              <a:rPr lang="ru-RU" altLang="en-US" smtClean="0"/>
              <a:pPr/>
              <a:t>21</a:t>
            </a:fld>
            <a:endParaRPr lang="ru-RU" altLang="en-US"/>
          </a:p>
        </p:txBody>
      </p:sp>
    </p:spTree>
    <p:extLst>
      <p:ext uri="{BB962C8B-B14F-4D97-AF65-F5344CB8AC3E}">
        <p14:creationId xmlns:p14="http://schemas.microsoft.com/office/powerpoint/2010/main" val="81492781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1328</TotalTime>
  <Words>625</Words>
  <Application>Microsoft Office PowerPoint</Application>
  <PresentationFormat>Широкоэкранный</PresentationFormat>
  <Paragraphs>105</Paragraphs>
  <Slides>21</Slides>
  <Notes>21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8" baseType="lpstr">
      <vt:lpstr>Akrobat Black</vt:lpstr>
      <vt:lpstr>Aptos</vt:lpstr>
      <vt:lpstr>Aptos Display</vt:lpstr>
      <vt:lpstr>等线</vt:lpstr>
      <vt:lpstr>Akrobat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Xiaomi</dc:creator>
  <cp:lastModifiedBy>Саня Василь</cp:lastModifiedBy>
  <cp:revision>163</cp:revision>
  <dcterms:created xsi:type="dcterms:W3CDTF">2024-09-10T07:53:00Z</dcterms:created>
  <dcterms:modified xsi:type="dcterms:W3CDTF">2026-02-17T18:44:54Z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85F69DFBD54D4A58BC3CE05CEB498B89_13</vt:lpwstr>
  </property>
  <property fmtid="{D5CDD505-2E9C-101B-9397-08002B2CF9AE}" pid="3" name="KSOProductBuildVer">
    <vt:lpwstr>1049-12.2.0.18911</vt:lpwstr>
  </property>
</Properties>
</file>