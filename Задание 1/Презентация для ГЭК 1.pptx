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79" r:id="rId3"/>
    <p:sldId id="258" r:id="rId4"/>
    <p:sldId id="259" r:id="rId5"/>
    <p:sldId id="261" r:id="rId6"/>
    <p:sldId id="262" r:id="rId7"/>
    <p:sldId id="263" r:id="rId8"/>
    <p:sldId id="264" r:id="rId9"/>
    <p:sldId id="282" r:id="rId10"/>
    <p:sldId id="289" r:id="rId11"/>
    <p:sldId id="288" r:id="rId12"/>
    <p:sldId id="284" r:id="rId13"/>
    <p:sldId id="290" r:id="rId14"/>
    <p:sldId id="281" r:id="rId15"/>
    <p:sldId id="276" r:id="rId16"/>
    <p:sldId id="285" r:id="rId17"/>
    <p:sldId id="286" r:id="rId18"/>
    <p:sldId id="287" r:id="rId19"/>
    <p:sldId id="275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0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0C7C7-D2A8-4099-A0AB-13E0EBCD4735}" type="datetimeFigureOut">
              <a:rPr lang="ru-RU" smtClean="0"/>
              <a:t>23.01.2026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39B67-EF9A-4D4C-8ADA-22962EED75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46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05E09-77DA-C7FD-7BA8-12B24C335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73D543C-E065-0F13-AEEB-4E2A42F5C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D30D1F-09B5-286E-3A17-C03042831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69D74C-FF8B-0622-1F4A-686A2048D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39B67-EF9A-4D4C-8ADA-22962EED75A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004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39B67-EF9A-4D4C-8ADA-22962EED75A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7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86C1-FD12-5378-FE88-A1FA13AF4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5D34609-41AF-FC12-112C-D609D4FC5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A775911-6F20-1014-6795-9B50CCE63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B8207B-7B7A-A40F-9963-57FA950EF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39B67-EF9A-4D4C-8ADA-22962EED75A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296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F4E2D-A737-2D0E-E4C6-F0A128B07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C4ED1E5-3754-4BA4-F48E-7A5BB04E7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64A09D0-9C46-7ADB-9B8A-391241640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009BD2-8CF4-3255-095E-329BFC696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39B67-EF9A-4D4C-8ADA-22962EED75A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442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55FF9-D25A-4D29-A65C-87505687D2E9}" type="datetime1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1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1C8EE-823C-4203-AD00-0E7D6E684DA9}" type="datetime1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7E52-726B-49C5-9268-1BBDC1FF9987}" type="datetime1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E849F-7F16-4E60-B778-103BDE100F18}" type="datetime1">
              <a:rPr lang="ru-RU" smtClean="0"/>
              <a:t>23.01.2026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4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5889-132D-43C4-B454-0C6D4C303270}" type="datetime1">
              <a:rPr lang="ru-RU" smtClean="0"/>
              <a:t>23.01.2026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9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9082-1312-421E-BEC4-22CE7378C049}" type="datetime1">
              <a:rPr lang="ru-RU" smtClean="0"/>
              <a:t>23.01.2026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5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43EE2-41BB-4C2A-AA3D-90ADFF117333}" type="datetime1">
              <a:rPr lang="ru-RU" smtClean="0"/>
              <a:t>23.01.2026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7F1DB-155F-4B2F-902C-091C33689B81}" type="datetime1">
              <a:rPr lang="ru-RU" smtClean="0"/>
              <a:t>23.01.2026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0943B-12C3-41D1-B118-19DDAB67BDF3}" type="datetime1">
              <a:rPr lang="ru-RU" smtClean="0"/>
              <a:t>23.01.2026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2B06C-C31C-4B80-B15C-76716C3B5C8A}" type="datetime1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7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67C6-1CAF-4AB5-AA2A-C7E5C96A996B}" type="datetime1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51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56D6F-BF58-4BBD-8EE1-22966612D4C1}" type="datetime1">
              <a:rPr lang="ru-RU" smtClean="0"/>
              <a:t>23.01.2026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7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8000" t="7000" r="1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06581" y="2126746"/>
            <a:ext cx="4826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безопасного упаковщика исполняемых файлов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Portable Executable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594139-F661-9674-EFC0-E00BBD6E2DB0}"/>
              </a:ext>
            </a:extLst>
          </p:cNvPr>
          <p:cNvSpPr txBox="1"/>
          <p:nvPr/>
        </p:nvSpPr>
        <p:spPr>
          <a:xfrm>
            <a:off x="626302" y="5086198"/>
            <a:ext cx="49062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Перепелкин Никита Владимирович, ТКИ-641</a:t>
            </a:r>
          </a:p>
          <a:p>
            <a:pPr algn="ctr"/>
            <a:r>
              <a:rPr lang="ru-RU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Руководитель - д. т. н., проф. Сидоренко Валентина Геннадьевна</a:t>
            </a:r>
          </a:p>
        </p:txBody>
      </p:sp>
    </p:spTree>
    <p:extLst>
      <p:ext uri="{BB962C8B-B14F-4D97-AF65-F5344CB8AC3E}">
        <p14:creationId xmlns:p14="http://schemas.microsoft.com/office/powerpoint/2010/main" val="450467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C31DB-33D9-CF8F-AC31-BEF29BE0D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330803-57C4-F6D6-8890-6445F168A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Цель и задачи дипломного проекта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DAECF7-7000-F182-363A-DDCBE6E15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00077"/>
          </a:xfrm>
        </p:spPr>
        <p:txBody>
          <a:bodyPr>
            <a:noAutofit/>
          </a:bodyPr>
          <a:lstStyle/>
          <a:p>
            <a:pPr indent="0" algn="just">
              <a:lnSpc>
                <a:spcPct val="100000"/>
              </a:lnSpc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Целью дипломного проекта является повышение уровня безопасности исходного кода программного обеспечения путем создания безопасного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PE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-упаковщика для исполняемых файлов формата .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exe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.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Поставленные задачи:</a:t>
            </a:r>
          </a:p>
          <a:p>
            <a:pPr marL="514350" indent="-285750"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провести анализ существующих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PE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-упаковщиков;</a:t>
            </a:r>
          </a:p>
          <a:p>
            <a:pPr marL="514350" indent="-285750"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разработать концепцию альтернативного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PE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-упаковщика для .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exe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файлов;</a:t>
            </a:r>
          </a:p>
          <a:p>
            <a:pPr marL="514350" indent="-285750"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разработать техническое задание для реализуемого программного обеспечения упаковки исполняемых файлов;</a:t>
            </a:r>
          </a:p>
          <a:p>
            <a:pPr marL="514350" indent="-285750"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разработать программное обеспечение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;</a:t>
            </a:r>
            <a:endParaRPr lang="ru-RU" sz="18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ahoma" panose="020B0604030504040204" pitchFamily="34" charset="0"/>
            </a:endParaRPr>
          </a:p>
          <a:p>
            <a:pPr marL="514350" indent="-285750"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произвести тестирование разработанного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PE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-упаковщика;</a:t>
            </a:r>
          </a:p>
          <a:p>
            <a:pPr marL="514350" indent="-285750"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оценить экономическую эффективность внедряемого технического решения;</a:t>
            </a:r>
          </a:p>
          <a:p>
            <a:pPr marL="514350" indent="-285750"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рассмотреть вопросы обеспечения безопасности жизнедеятельности при работе за персональным компьютером.</a:t>
            </a:r>
          </a:p>
          <a:p>
            <a:pPr indent="0" algn="just">
              <a:lnSpc>
                <a:spcPct val="100000"/>
              </a:lnSpc>
              <a:buNone/>
            </a:pP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ahoma" panose="020B060403050404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115B8F-8855-7A5E-0010-57A758E1D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035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Portable Executable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ru-RU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</a:t>
            </a:r>
            <a:r>
              <a:rPr lang="ru-RU" sz="3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Executable</a:t>
            </a:r>
            <a:r>
              <a:rPr lang="ru-RU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(PE)</a:t>
            </a: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формат исполняемых файлов, используемый в операционных системах Windows. Он включает в себя программы (EXE), библиотеки (DLL), драйверы и другие типы бинарных файлов.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FA45C5-5BC3-253B-9E06-1682AA7E1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116" y="3429000"/>
            <a:ext cx="3249767" cy="1833202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9B05C7-450F-E2FD-1BE1-5E4D581E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751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A99384-F3C7-500C-3118-DF6FF22C9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Структура </a:t>
            </a:r>
            <a:r>
              <a:rPr lang="en-US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Portable Executable</a:t>
            </a:r>
            <a:endParaRPr lang="ru-RU" sz="24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3B654B6-9769-EAB7-4D95-5AF81DD72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49176"/>
            <a:ext cx="5234629" cy="4497023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18051781-49B5-A973-E1D4-63B3219874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13707" y="1400873"/>
            <a:ext cx="4640093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DOS-заголовок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всегда начинается с 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“MZ”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смещение к 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PE-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заголовку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-заглушка: 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совместимости с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MS-DOS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PE-заголовок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всегда начинается с 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“PE”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о типе, архитектуре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секций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описание секций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Секции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сами секции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78A59BF-0823-B2A1-0792-41F13CD37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349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23BCD-C260-6F9E-A618-80607BD44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BE9A46-741C-104C-4869-9B431CCED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Загрузка и запуск</a:t>
            </a:r>
            <a:endParaRPr lang="ru-RU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2C99774-DAE1-F9A1-612B-DFB346F91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7789"/>
            <a:ext cx="10350887" cy="3977249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AB93F6B-0D53-89AC-DA2A-066D9D5B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909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4669E-3901-8F6F-1A2C-07FFC71F0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3AF5ED-E761-5835-7C4D-5E780C0C2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Схема упаковки и распаковки </a:t>
            </a:r>
            <a:b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PE</a:t>
            </a:r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-файлов</a:t>
            </a:r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BAC5B3-54A4-4507-80E4-5435766CB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33" y="1293703"/>
            <a:ext cx="10476334" cy="471799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D3F3E8-AF10-9EDD-4D2A-6475197C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0768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4E649-45F7-FD30-5CB3-463D376AA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AA0003-509B-A546-275B-663C3EAD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Схема работы </a:t>
            </a:r>
            <a:r>
              <a:rPr lang="en-US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PE-</a:t>
            </a:r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упаковщика</a:t>
            </a:r>
            <a:endParaRPr lang="ru-RU" sz="2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5EFE81A-819F-2ED8-0951-BEC8D4BD8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51" y="1690688"/>
            <a:ext cx="10820549" cy="403211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62EC19B-37A1-C0AF-E14E-7F7727F09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185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785F9-7FEF-B0AC-A43A-47E954B12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F1542F-0E91-2AE4-657A-2EE12915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Схема работы распаковщика</a:t>
            </a:r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BC8D90-8C57-4474-0913-5780076D2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736" y="1438082"/>
            <a:ext cx="9170528" cy="4651433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DB302F-14EE-1C3F-C0D5-916635C44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771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9FB32-5EAA-2261-46BC-1E586444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C4AFB0-8AB6-9BDB-7508-03ACEFEC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Модель системы</a:t>
            </a:r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F2B6CE-901C-25D7-8CAC-A64CB1747D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999" y="1329187"/>
            <a:ext cx="9396002" cy="49937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68EAFC9-971B-2660-EC7F-42D49F37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666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07681-D6D6-8DAC-F75D-CC2EE91B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8D5684-778A-DC56-040A-497331B1F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2F5496"/>
                </a:solidFill>
                <a:latin typeface="Arial Black"/>
                <a:sym typeface="Arial Black"/>
              </a:rPr>
              <a:t>Ключевые параметры модели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F06CCC-7B82-8D5A-6F9A-EB84A0F33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10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FCEAA-B2A4-2102-E7D5-6CC886DBCBE3}"/>
              </a:ext>
            </a:extLst>
          </p:cNvPr>
          <p:cNvSpPr txBox="1"/>
          <p:nvPr/>
        </p:nvSpPr>
        <p:spPr>
          <a:xfrm>
            <a:off x="838199" y="1690688"/>
            <a:ext cx="66931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Алгоритм сжатия: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DEFLATE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Алгоритм шифрования: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AES 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в режиме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CBC</a:t>
            </a:r>
            <a:b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</a:b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Упаковщик: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Python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Распаковщик: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C++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Сервер: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Python</a:t>
            </a:r>
            <a:endParaRPr lang="ru-RU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405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981D8-CDAE-F224-FC1F-04205C5B7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D93FE0-5790-F324-886F-450C93EA3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Настройка </a:t>
            </a:r>
            <a:r>
              <a:rPr lang="en-US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SSL </a:t>
            </a:r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на сервере</a:t>
            </a:r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338603-F3EA-A5A4-1F34-513E8EF6B9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164" b="38307"/>
          <a:stretch/>
        </p:blipFill>
        <p:spPr>
          <a:xfrm>
            <a:off x="1449052" y="1811797"/>
            <a:ext cx="8911274" cy="173831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20D09C-D560-D739-CB76-EF260BA18D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02" t="62375"/>
          <a:stretch/>
        </p:blipFill>
        <p:spPr bwMode="auto">
          <a:xfrm>
            <a:off x="3295946" y="3975673"/>
            <a:ext cx="5600107" cy="194553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E2BBEC-9567-792F-E177-71768263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819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DF958-23B8-B242-0890-3339AE5F4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A6020-F993-1818-5E20-DEB3FA779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Результаты работы упаковщика</a:t>
            </a:r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60CB91-1DDF-6D02-A375-392ECDE6F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450" y="1690688"/>
            <a:ext cx="7887511" cy="26398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EBF476-5EDF-2BD4-6EC4-1185E0131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885" y="4739218"/>
            <a:ext cx="7886076" cy="1204381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DE887D-E0E7-D4A4-0A91-4AD4A061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0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DF958-23B8-B242-0890-3339AE5F4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A6020-F993-1818-5E20-DEB3FA779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Результат запуска </a:t>
            </a:r>
            <a:b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защищенного файла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DE887D-E0E7-D4A4-0A91-4AD4A061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13</a:t>
            </a:fld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568220E-DA2B-72BE-FE39-6FC7B1820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842" y="1651296"/>
            <a:ext cx="7723358" cy="355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05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1CD82-9835-76F0-485F-45355606F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394A04-9A09-8299-84CC-5262EEBE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Общее сравнение </a:t>
            </a:r>
            <a:r>
              <a:rPr lang="en-US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x32</a:t>
            </a:r>
            <a:endParaRPr lang="ru-RU" sz="2400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5647C5F-C6F7-EEF0-88C5-E49F07AED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013580"/>
              </p:ext>
            </p:extLst>
          </p:nvPr>
        </p:nvGraphicFramePr>
        <p:xfrm>
          <a:off x="999110" y="1690688"/>
          <a:ext cx="10193778" cy="3894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963">
                  <a:extLst>
                    <a:ext uri="{9D8B030D-6E8A-4147-A177-3AD203B41FA5}">
                      <a16:colId xmlns:a16="http://schemas.microsoft.com/office/drawing/2014/main" val="3428318577"/>
                    </a:ext>
                  </a:extLst>
                </a:gridCol>
                <a:gridCol w="1698963">
                  <a:extLst>
                    <a:ext uri="{9D8B030D-6E8A-4147-A177-3AD203B41FA5}">
                      <a16:colId xmlns:a16="http://schemas.microsoft.com/office/drawing/2014/main" val="1573843568"/>
                    </a:ext>
                  </a:extLst>
                </a:gridCol>
                <a:gridCol w="1698963">
                  <a:extLst>
                    <a:ext uri="{9D8B030D-6E8A-4147-A177-3AD203B41FA5}">
                      <a16:colId xmlns:a16="http://schemas.microsoft.com/office/drawing/2014/main" val="2651447057"/>
                    </a:ext>
                  </a:extLst>
                </a:gridCol>
                <a:gridCol w="1812588">
                  <a:extLst>
                    <a:ext uri="{9D8B030D-6E8A-4147-A177-3AD203B41FA5}">
                      <a16:colId xmlns:a16="http://schemas.microsoft.com/office/drawing/2014/main" val="3328873567"/>
                    </a:ext>
                  </a:extLst>
                </a:gridCol>
                <a:gridCol w="1585338">
                  <a:extLst>
                    <a:ext uri="{9D8B030D-6E8A-4147-A177-3AD203B41FA5}">
                      <a16:colId xmlns:a16="http://schemas.microsoft.com/office/drawing/2014/main" val="2190620937"/>
                    </a:ext>
                  </a:extLst>
                </a:gridCol>
                <a:gridCol w="1698963">
                  <a:extLst>
                    <a:ext uri="{9D8B030D-6E8A-4147-A177-3AD203B41FA5}">
                      <a16:colId xmlns:a16="http://schemas.microsoft.com/office/drawing/2014/main" val="3823746015"/>
                    </a:ext>
                  </a:extLst>
                </a:gridCol>
              </a:tblGrid>
              <a:tr h="857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Наименование исследуемого файла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Параметр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Исходный файл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Разработанный </a:t>
                      </a:r>
                      <a:r>
                        <a:rPr lang="en-US" dirty="0"/>
                        <a:t>PE-</a:t>
                      </a:r>
                      <a:r>
                        <a:rPr lang="ru-RU" dirty="0"/>
                        <a:t>упаковщик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UPX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ASPack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Mpress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734310"/>
                  </a:ext>
                </a:extLst>
              </a:tr>
              <a:tr h="496612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Файл №1 (</a:t>
                      </a:r>
                      <a:r>
                        <a:rPr lang="en-US" dirty="0"/>
                        <a:t>CFF Explorer)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Энтропия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6.024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7.682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6.880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6.796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394489"/>
                  </a:ext>
                </a:extLst>
              </a:tr>
              <a:tr h="496612">
                <a:tc v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Размер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2 738 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1 598 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1 118 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1 116 КБ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0396750"/>
                  </a:ext>
                </a:extLst>
              </a:tr>
              <a:tr h="496612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Файл №2</a:t>
                      </a:r>
                      <a:r>
                        <a:rPr lang="en-US" dirty="0"/>
                        <a:t> (Audacity)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Энтропия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</a:t>
                      </a:r>
                      <a:r>
                        <a:rPr lang="ru-RU" dirty="0"/>
                        <a:t>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7.932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7.846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7.859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527884"/>
                  </a:ext>
                </a:extLst>
              </a:tr>
              <a:tr h="496612">
                <a:tc v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Размер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11 956 </a:t>
                      </a:r>
                      <a:r>
                        <a:rPr lang="ru-RU" dirty="0"/>
                        <a:t>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4 153 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2 806 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2 332 КБ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096563"/>
                  </a:ext>
                </a:extLst>
              </a:tr>
              <a:tr h="49661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Файл №3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UltraISO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Энтропия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7.159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7.912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7.930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7.988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992212"/>
                  </a:ext>
                </a:extLst>
              </a:tr>
              <a:tr h="496612">
                <a:tc v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Размер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5 353 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3 561 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1 870 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1 624 КБ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2483452"/>
                  </a:ext>
                </a:extLst>
              </a:tr>
            </a:tbl>
          </a:graphicData>
        </a:graphic>
      </p:graphicFrame>
      <p:sp>
        <p:nvSpPr>
          <p:cNvPr id="6" name="Объект 2">
            <a:extLst>
              <a:ext uri="{FF2B5EF4-FFF2-40B4-BE49-F238E27FC236}">
                <a16:creationId xmlns:a16="http://schemas.microsoft.com/office/drawing/2014/main" id="{D1C0F2A7-B7EE-1F89-0B17-080611A48FCC}"/>
              </a:ext>
            </a:extLst>
          </p:cNvPr>
          <p:cNvSpPr txBox="1">
            <a:spLocks/>
          </p:cNvSpPr>
          <p:nvPr/>
        </p:nvSpPr>
        <p:spPr>
          <a:xfrm>
            <a:off x="3111659" y="5662462"/>
            <a:ext cx="5968680" cy="7330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результирующего файла больше, в среднем, на 69%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Энтропия результирующего файла выше, в среднем, на 4%</a:t>
            </a:r>
            <a:endParaRPr lang="ru-RU" sz="18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264B9F-ABF0-A468-836E-0DA9FC2C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110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C8332-9A3F-8D94-A030-BFE92ECD5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079C30-5C9D-7C69-C9BD-A4484264A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Общее сравнение </a:t>
            </a:r>
            <a:r>
              <a:rPr lang="en-US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x</a:t>
            </a:r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64</a:t>
            </a:r>
            <a:endParaRPr lang="ru-RU" sz="2400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76852D0-A718-4391-EE89-B14EB54E6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955156"/>
              </p:ext>
            </p:extLst>
          </p:nvPr>
        </p:nvGraphicFramePr>
        <p:xfrm>
          <a:off x="999110" y="1690688"/>
          <a:ext cx="10193778" cy="3894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963">
                  <a:extLst>
                    <a:ext uri="{9D8B030D-6E8A-4147-A177-3AD203B41FA5}">
                      <a16:colId xmlns:a16="http://schemas.microsoft.com/office/drawing/2014/main" val="3428318577"/>
                    </a:ext>
                  </a:extLst>
                </a:gridCol>
                <a:gridCol w="1698963">
                  <a:extLst>
                    <a:ext uri="{9D8B030D-6E8A-4147-A177-3AD203B41FA5}">
                      <a16:colId xmlns:a16="http://schemas.microsoft.com/office/drawing/2014/main" val="1573843568"/>
                    </a:ext>
                  </a:extLst>
                </a:gridCol>
                <a:gridCol w="1698963">
                  <a:extLst>
                    <a:ext uri="{9D8B030D-6E8A-4147-A177-3AD203B41FA5}">
                      <a16:colId xmlns:a16="http://schemas.microsoft.com/office/drawing/2014/main" val="2651447057"/>
                    </a:ext>
                  </a:extLst>
                </a:gridCol>
                <a:gridCol w="1812588">
                  <a:extLst>
                    <a:ext uri="{9D8B030D-6E8A-4147-A177-3AD203B41FA5}">
                      <a16:colId xmlns:a16="http://schemas.microsoft.com/office/drawing/2014/main" val="3328873567"/>
                    </a:ext>
                  </a:extLst>
                </a:gridCol>
                <a:gridCol w="1585338">
                  <a:extLst>
                    <a:ext uri="{9D8B030D-6E8A-4147-A177-3AD203B41FA5}">
                      <a16:colId xmlns:a16="http://schemas.microsoft.com/office/drawing/2014/main" val="2190620937"/>
                    </a:ext>
                  </a:extLst>
                </a:gridCol>
                <a:gridCol w="1698963">
                  <a:extLst>
                    <a:ext uri="{9D8B030D-6E8A-4147-A177-3AD203B41FA5}">
                      <a16:colId xmlns:a16="http://schemas.microsoft.com/office/drawing/2014/main" val="3823746015"/>
                    </a:ext>
                  </a:extLst>
                </a:gridCol>
              </a:tblGrid>
              <a:tr h="857165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Наименование исследуемого файла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Параметр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Исходный файл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Разработанный</a:t>
                      </a:r>
                    </a:p>
                    <a:p>
                      <a:pPr algn="ctr"/>
                      <a:r>
                        <a:rPr lang="en-US" dirty="0"/>
                        <a:t>PE-</a:t>
                      </a:r>
                      <a:r>
                        <a:rPr lang="ru-RU" dirty="0"/>
                        <a:t>упаковщик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UPX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ASPack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Mpress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734310"/>
                  </a:ext>
                </a:extLst>
              </a:tr>
              <a:tr h="496612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Файл №1 (</a:t>
                      </a:r>
                      <a:r>
                        <a:rPr lang="en-US" dirty="0"/>
                        <a:t>Notepad++)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Энтропия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6.265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7.904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7.858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6.860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394489"/>
                  </a:ext>
                </a:extLst>
              </a:tr>
              <a:tr h="496612">
                <a:tc v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Размер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7 093 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3 368 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2 367 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2 925 КБ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0396750"/>
                  </a:ext>
                </a:extLst>
              </a:tr>
              <a:tr h="496612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Файл №2</a:t>
                      </a:r>
                      <a:r>
                        <a:rPr lang="en-US" dirty="0"/>
                        <a:t> (Revo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Uninstaller)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Энтропия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6.481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7.936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7.889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7.775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527884"/>
                  </a:ext>
                </a:extLst>
              </a:tr>
              <a:tr h="496612">
                <a:tc v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Размер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14 758 </a:t>
                      </a:r>
                      <a:r>
                        <a:rPr lang="ru-RU" dirty="0"/>
                        <a:t>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4 345 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3 296 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2 855 КБ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096563"/>
                  </a:ext>
                </a:extLst>
              </a:tr>
              <a:tr h="49661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Файл №2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cmake-gui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Энтропия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6.684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7.989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7.929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7.989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992212"/>
                  </a:ext>
                </a:extLst>
              </a:tr>
              <a:tr h="496612">
                <a:tc v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Размер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26 789 </a:t>
                      </a:r>
                      <a:r>
                        <a:rPr lang="ru-RU" dirty="0"/>
                        <a:t>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11 967 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10 199 КБ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7 724 КБ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412081"/>
                  </a:ext>
                </a:extLst>
              </a:tr>
            </a:tbl>
          </a:graphicData>
        </a:graphic>
      </p:graphicFrame>
      <p:sp>
        <p:nvSpPr>
          <p:cNvPr id="7" name="Объект 2">
            <a:extLst>
              <a:ext uri="{FF2B5EF4-FFF2-40B4-BE49-F238E27FC236}">
                <a16:creationId xmlns:a16="http://schemas.microsoft.com/office/drawing/2014/main" id="{4C3F2329-77FF-E056-2BD3-17D9343C7DD3}"/>
              </a:ext>
            </a:extLst>
          </p:cNvPr>
          <p:cNvSpPr txBox="1">
            <a:spLocks/>
          </p:cNvSpPr>
          <p:nvPr/>
        </p:nvSpPr>
        <p:spPr>
          <a:xfrm>
            <a:off x="3111659" y="5662462"/>
            <a:ext cx="5968680" cy="7023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результирующего файла больше, в среднем, на 33%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Энтропия результирующего файла выше, в среднем, на 3%</a:t>
            </a:r>
            <a:endParaRPr lang="ru-RU" sz="18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70E4E5-0DCF-1268-0681-CBE8AFD02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593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F3D2A-FC9A-4846-D9D0-6469DE4F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D9BFF5-643B-DA51-EA53-1D3A2DA1C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Экономическая часть</a:t>
            </a:r>
            <a:endParaRPr lang="ru-RU" sz="2400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9E5C3B3D-FCA4-DA3D-81DD-7A7F3BDC1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889352"/>
              </p:ext>
            </p:extLst>
          </p:nvPr>
        </p:nvGraphicFramePr>
        <p:xfrm>
          <a:off x="838199" y="1863197"/>
          <a:ext cx="10515601" cy="8574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8662">
                  <a:extLst>
                    <a:ext uri="{9D8B030D-6E8A-4147-A177-3AD203B41FA5}">
                      <a16:colId xmlns:a16="http://schemas.microsoft.com/office/drawing/2014/main" val="3853735318"/>
                    </a:ext>
                  </a:extLst>
                </a:gridCol>
                <a:gridCol w="2226899">
                  <a:extLst>
                    <a:ext uri="{9D8B030D-6E8A-4147-A177-3AD203B41FA5}">
                      <a16:colId xmlns:a16="http://schemas.microsoft.com/office/drawing/2014/main" val="3875190579"/>
                    </a:ext>
                  </a:extLst>
                </a:gridCol>
                <a:gridCol w="2325923">
                  <a:extLst>
                    <a:ext uri="{9D8B030D-6E8A-4147-A177-3AD203B41FA5}">
                      <a16:colId xmlns:a16="http://schemas.microsoft.com/office/drawing/2014/main" val="2354966301"/>
                    </a:ext>
                  </a:extLst>
                </a:gridCol>
                <a:gridCol w="2116623">
                  <a:extLst>
                    <a:ext uri="{9D8B030D-6E8A-4147-A177-3AD203B41FA5}">
                      <a16:colId xmlns:a16="http://schemas.microsoft.com/office/drawing/2014/main" val="2771243977"/>
                    </a:ext>
                  </a:extLst>
                </a:gridCol>
                <a:gridCol w="2097494">
                  <a:extLst>
                    <a:ext uri="{9D8B030D-6E8A-4147-A177-3AD203B41FA5}">
                      <a16:colId xmlns:a16="http://schemas.microsoft.com/office/drawing/2014/main" val="2894837609"/>
                    </a:ext>
                  </a:extLst>
                </a:gridCol>
              </a:tblGrid>
              <a:tr h="260414">
                <a:tc gridSpan="2"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1400" kern="100">
                          <a:effectLst/>
                        </a:rPr>
                        <a:t>Единовременные расходы</a:t>
                      </a:r>
                      <a:endParaRPr lang="ru-RU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1400" kern="100">
                          <a:effectLst/>
                        </a:rPr>
                        <a:t>Эксплуатационные расходы</a:t>
                      </a:r>
                      <a:endParaRPr lang="ru-RU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1400" kern="100" dirty="0">
                          <a:effectLst/>
                        </a:rPr>
                        <a:t>Всего, руб.</a:t>
                      </a:r>
                      <a:endParaRPr lang="ru-RU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4300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1400" kern="100">
                          <a:effectLst/>
                        </a:rPr>
                        <a:t>Средства, руб.</a:t>
                      </a:r>
                      <a:endParaRPr lang="ru-RU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1400" kern="100">
                          <a:effectLst/>
                        </a:rPr>
                        <a:t>Оплата труда, руб.</a:t>
                      </a:r>
                      <a:endParaRPr lang="ru-RU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1400" kern="100" dirty="0">
                          <a:effectLst/>
                        </a:rPr>
                        <a:t>Оплата труда, руб.</a:t>
                      </a:r>
                      <a:endParaRPr lang="ru-RU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1400" kern="100">
                          <a:effectLst/>
                        </a:rPr>
                        <a:t>Амортизация, руб.</a:t>
                      </a:r>
                      <a:endParaRPr lang="ru-RU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241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en-US" sz="1400" kern="1400" cap="all" spc="-50">
                          <a:effectLst/>
                        </a:rPr>
                        <a:t>82</a:t>
                      </a:r>
                      <a:r>
                        <a:rPr lang="ru-RU" sz="1400" kern="1400" cap="all" spc="-50">
                          <a:effectLst/>
                        </a:rPr>
                        <a:t> 000</a:t>
                      </a:r>
                      <a:endParaRPr lang="ru-RU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en-US" sz="1400" kern="100">
                          <a:effectLst/>
                        </a:rPr>
                        <a:t>264 000</a:t>
                      </a:r>
                      <a:endParaRPr lang="ru-RU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1400" kern="100">
                          <a:effectLst/>
                        </a:rPr>
                        <a:t>1 560 000</a:t>
                      </a:r>
                      <a:endParaRPr lang="ru-RU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1400" kern="100">
                          <a:effectLst/>
                        </a:rPr>
                        <a:t>40 992</a:t>
                      </a:r>
                      <a:endParaRPr lang="ru-RU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1400" kern="100" dirty="0">
                          <a:effectLst/>
                        </a:rPr>
                        <a:t>1 946 992</a:t>
                      </a:r>
                      <a:endParaRPr lang="ru-RU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907758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3994BBE-3A93-C3F9-5C32-34D6EDFAA6B1}"/>
              </a:ext>
            </a:extLst>
          </p:cNvPr>
          <p:cNvSpPr txBox="1"/>
          <p:nvPr/>
        </p:nvSpPr>
        <p:spPr>
          <a:xfrm>
            <a:off x="838200" y="3257332"/>
            <a:ext cx="1051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Разработанный прототип приносит организации косвенный экономический эффект, предотвращая потери, связанные с действиями реверс-инженеров. Экономическую эффективность системы защиты программного обеспечения можно примерно оценить, исходя из того, какие убытки несут разработчики из-за нелегального использования их программ: материальные, моральные, репутационные и многие другие. </a:t>
            </a:r>
            <a:endParaRPr lang="ru-RU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AEDD333-97A3-4002-0640-C7354C2B5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009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25316-D7DA-6923-48EC-1296A9E38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28C2C-1C59-3BCF-CC65-EF48FA60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Безопасность жизнедеятельности</a:t>
            </a:r>
            <a:endParaRPr lang="ru-RU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8C744B2-3A2A-CB75-C00C-1D6B808266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227" y="1331627"/>
            <a:ext cx="9315545" cy="4937512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D2D8727-813F-4391-6CDD-79858B860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792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D78D1-C713-A912-CDC0-E30D7B9C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681E52-56EF-2FA7-D811-27233E7EC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2F5496"/>
                </a:solidFill>
                <a:latin typeface="Arial Black"/>
                <a:ea typeface="Arial Black"/>
                <a:cs typeface="Arial Black"/>
                <a:sym typeface="Arial Black"/>
              </a:rPr>
              <a:t>Заключение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670F26-0C76-2D3A-22A3-E198A72D5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4683" y="1734481"/>
            <a:ext cx="10515600" cy="4802187"/>
          </a:xfrm>
        </p:spPr>
        <p:txBody>
          <a:bodyPr>
            <a:noAutofit/>
          </a:bodyPr>
          <a:lstStyle/>
          <a:p>
            <a:pPr indent="0" algn="just">
              <a:lnSpc>
                <a:spcPct val="100000"/>
              </a:lnSpc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В данном дипломном проекте был разработан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PE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-упаковщик для защиты исходного кода .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exe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программ, что позволит повысить уровень информационной безопасности программного обеспечения.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Были выполнены следующие задачи:</a:t>
            </a:r>
          </a:p>
          <a:p>
            <a:pPr marL="514350" indent="-285750"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п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роведен анализ существующих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PE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-упаковщиков;</a:t>
            </a:r>
          </a:p>
          <a:p>
            <a:pPr marL="514350" indent="-285750"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разработана концепция альтернативного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PE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-упаковщика для .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exe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файлов;</a:t>
            </a:r>
          </a:p>
          <a:p>
            <a:pPr marL="514350" indent="-285750"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разработано техническое задание для реализуемого программного обеспечения упаковки исполняемых файлов;</a:t>
            </a:r>
          </a:p>
          <a:p>
            <a:pPr marL="514350" indent="-285750"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разработано программное обеспечение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;</a:t>
            </a:r>
            <a:endParaRPr lang="ru-RU" sz="18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ahoma" panose="020B0604030504040204" pitchFamily="34" charset="0"/>
            </a:endParaRPr>
          </a:p>
          <a:p>
            <a:pPr marL="514350" indent="-285750"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п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роизведено тестирование разработанного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PE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-упаковщика;</a:t>
            </a:r>
          </a:p>
          <a:p>
            <a:pPr marL="514350" indent="-285750"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оценена экономическая эффективность внедряемого технического решения;</a:t>
            </a:r>
          </a:p>
          <a:p>
            <a:pPr marL="514350" indent="-285750"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ahoma" panose="020B0604030504040204" pitchFamily="34" charset="0"/>
              </a:rPr>
              <a:t>рассмотрены вопросы обеспечения безопасности жизнедеятельности при работе за персональным компьютером.</a:t>
            </a:r>
          </a:p>
          <a:p>
            <a:pPr indent="0" algn="just">
              <a:lnSpc>
                <a:spcPct val="100000"/>
              </a:lnSpc>
              <a:buNone/>
            </a:pPr>
            <a:endParaRPr lang="ru-RU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ahoma" panose="020B060403050404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1D03CC-7245-87D8-F702-D2E8F3BE9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157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8BF6D-6408-DAA1-77B5-AB0FF7354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0BDBB1D-238A-45D9-630F-4E4B6F236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4350" y="3187267"/>
            <a:ext cx="3543300" cy="483466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6EC9229-D156-AF9D-613F-70E20556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6022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677</Words>
  <Application>Microsoft Office PowerPoint</Application>
  <PresentationFormat>Widescreen</PresentationFormat>
  <Paragraphs>170</Paragraphs>
  <Slides>19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Тема Office</vt:lpstr>
      <vt:lpstr>PowerPoint Presentation</vt:lpstr>
      <vt:lpstr>Цель и задачи дипломного проекта</vt:lpstr>
      <vt:lpstr>Portable Executable</vt:lpstr>
      <vt:lpstr>Структура Portable Executable</vt:lpstr>
      <vt:lpstr>Загрузка и запуск</vt:lpstr>
      <vt:lpstr>Схема упаковки и распаковки  PE-файлов</vt:lpstr>
      <vt:lpstr>Схема работы PE-упаковщика</vt:lpstr>
      <vt:lpstr>Схема работы распаковщика</vt:lpstr>
      <vt:lpstr>Модель системы</vt:lpstr>
      <vt:lpstr>Ключевые параметры модели</vt:lpstr>
      <vt:lpstr>Настройка SSL на сервере</vt:lpstr>
      <vt:lpstr>Результаты работы упаковщика</vt:lpstr>
      <vt:lpstr>Результат запуска  защищенного файла</vt:lpstr>
      <vt:lpstr>Общее сравнение x32</vt:lpstr>
      <vt:lpstr>Общее сравнение x64</vt:lpstr>
      <vt:lpstr>Экономическая часть</vt:lpstr>
      <vt:lpstr>Безопасность жизнедеятельности</vt:lpstr>
      <vt:lpstr>Заключение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Print</dc:creator>
  <cp:lastModifiedBy>Сидоренко Валентина Геннадьевна</cp:lastModifiedBy>
  <cp:revision>29</cp:revision>
  <dcterms:created xsi:type="dcterms:W3CDTF">2021-11-29T10:22:08Z</dcterms:created>
  <dcterms:modified xsi:type="dcterms:W3CDTF">2026-01-23T11:22:33Z</dcterms:modified>
</cp:coreProperties>
</file>