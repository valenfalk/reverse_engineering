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3"/>
  </p:notesMasterIdLst>
  <p:sldIdLst>
    <p:sldId id="267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306" r:id="rId12"/>
    <p:sldId id="290" r:id="rId13"/>
    <p:sldId id="291" r:id="rId14"/>
    <p:sldId id="311" r:id="rId15"/>
    <p:sldId id="313" r:id="rId16"/>
    <p:sldId id="307" r:id="rId17"/>
    <p:sldId id="294" r:id="rId18"/>
    <p:sldId id="295" r:id="rId19"/>
    <p:sldId id="296" r:id="rId20"/>
    <p:sldId id="297" r:id="rId21"/>
    <p:sldId id="308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12" r:id="rId30"/>
    <p:sldId id="309" r:id="rId31"/>
    <p:sldId id="310" r:id="rId32"/>
  </p:sldIdLst>
  <p:sldSz cx="12192000" cy="6858000"/>
  <p:notesSz cx="6858000" cy="9144000"/>
  <p:embeddedFontLst>
    <p:embeddedFont>
      <p:font typeface="Akrobat" panose="020B0604020202020204" charset="-52"/>
      <p:regular r:id="rId34"/>
      <p:bold r:id="rId35"/>
    </p:embeddedFont>
    <p:embeddedFont>
      <p:font typeface="Akrobat Black" panose="020B0604020202020204" charset="-52"/>
      <p:bold r:id="rId36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2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2D6E"/>
    <a:srgbClr val="C33674"/>
    <a:srgbClr val="440EA5"/>
    <a:srgbClr val="1604C0"/>
    <a:srgbClr val="3536B0"/>
    <a:srgbClr val="063971"/>
    <a:srgbClr val="8B19A3"/>
    <a:srgbClr val="7D1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0T19:56:56.110" idx="2">
    <p:pos x="7680" y="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D24B569-3539-B230-BF23-AE29C7851C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1D6893-FF24-CCB2-32C4-6D3BAD9A3A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C8105D2D-B396-4D12-B05A-CB356EB9FD37}" type="datetimeFigureOut">
              <a:rPr lang="ru-RU"/>
              <a:pPr>
                <a:defRPr/>
              </a:pPr>
              <a:t>12.02.2026</a:t>
            </a:fld>
            <a:endParaRPr lang="ru-RU"/>
          </a:p>
        </p:txBody>
      </p:sp>
      <p:sp>
        <p:nvSpPr>
          <p:cNvPr id="2052" name="Образ слайда 3">
            <a:extLst>
              <a:ext uri="{FF2B5EF4-FFF2-40B4-BE49-F238E27FC236}">
                <a16:creationId xmlns:a16="http://schemas.microsoft.com/office/drawing/2014/main" id="{2A0D2549-88B5-1FDE-5A8F-4F379157F18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Заметки 4">
            <a:extLst>
              <a:ext uri="{FF2B5EF4-FFF2-40B4-BE49-F238E27FC236}">
                <a16:creationId xmlns:a16="http://schemas.microsoft.com/office/drawing/2014/main" id="{A8EE8950-55E1-A383-27FF-2444CD1F1461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060073-2E6A-34A2-A2EF-8897974FF6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8B15A7-9861-5AF3-1585-44B999132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254866DC-8FB9-43BC-8358-DB11DD4A82D2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9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>
            <a:extLst>
              <a:ext uri="{FF2B5EF4-FFF2-40B4-BE49-F238E27FC236}">
                <a16:creationId xmlns:a16="http://schemas.microsoft.com/office/drawing/2014/main" id="{53AAC0CF-7882-61E7-0A82-F3F5EB6329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099" name="Заметки 2">
            <a:extLst>
              <a:ext uri="{FF2B5EF4-FFF2-40B4-BE49-F238E27FC236}">
                <a16:creationId xmlns:a16="http://schemas.microsoft.com/office/drawing/2014/main" id="{0792E640-6F8F-25C6-43A9-A45C59DFA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ED53A4B-D4C9-5910-9D06-407DDBCFAF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0D141B37-D474-459C-9E0F-8C0D0EC0CEEE}" type="slidenum">
              <a:rPr altLang="zh-CN">
                <a:cs typeface="等线" panose="02010600030101010101" pitchFamily="2" charset="-122"/>
              </a:rPr>
              <a:pPr/>
              <a:t>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2136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123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971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222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1693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127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907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7789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317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7130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9785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3112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7172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2215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003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8375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016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6791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2192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84661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048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3496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73093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928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045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274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36179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30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62432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31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602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noProof="1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C2ABE4-66CA-FBAE-F148-68232618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C0F2-78E2-46FF-9166-629315525A25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58B08-277F-AB77-9678-1AEDBCA0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F25A0-106D-7220-AC99-1EF741A2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1E390-58D5-46F8-9BB8-613D346979AB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7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BCFFA-2B60-0D33-14B9-16347B97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19043-AA2D-4600-AFD8-23050D3BDC42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47434-D651-BC98-F3C1-C815E69F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54D81-F9A3-D949-4508-BDA2CA8A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1CB51-31ED-4C09-A4A0-FBB363AB4F1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2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6581E-5804-E9A8-BEE4-D751DBF2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60A03-B9C5-4FFE-B137-2043DA7076BB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EA2D86-B09A-C40A-E227-36A84CD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CF3C8-1BAC-C257-2E59-A2E06FCF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B27E-6C67-4B84-9BF5-73A4FC4A53B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9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F1E15D9-539E-A388-65EC-F517CEE3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0625-FC0F-4A55-B6A4-1B11F9D1882C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3124E61-3FD1-96D6-E3F5-B802BB45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D804349-1223-05FC-F119-C8DD8CC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B50DF-BE53-45CF-BE31-DF755AFBEC99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63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FFE1A5AB-2FA2-EB97-D7E5-F7E5D437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8771A-C258-4F7C-9C56-577225F58644}" type="datetime1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3EF1D936-1C13-FDEC-5A4A-E0C7DE19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B8405F6-1624-0D56-9C97-5CD9735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7F18C-6156-4E2E-861F-BD2D152600E4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9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83BA1D94-E263-339E-B6D3-8C777D96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4C6D7-9D43-4D0D-B6CE-B7FE888DFA5B}" type="datetime1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998661F-3D46-DDBA-9167-5453D12F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60C6424-5CF4-4407-7AC6-742C530C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2DC26D-16D0-4072-A9C2-F73E32D665E3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0ED75349-1FF2-B82C-6543-DCEA71F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D6178-225B-4E17-A144-18738C8E44D9}" type="datetime1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7CAB170-DFCE-B949-A6D5-0D7F42B6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87BA5E49-7C53-2330-E74E-5F8A12ED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D3A62-9975-49A2-A229-F36F92FB7EA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9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F7ED9EA-648B-D99B-6F59-60C1E97B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87886-C08E-438B-A97D-17C336AB888F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9528BB1-8F5B-8C4C-BE9A-08DD90C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72556A4-9548-26BD-FFCE-46025DD6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C1B95-8037-48E2-8040-416C98D7C4AD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17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1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F81C3129-2E8E-B3AC-7A10-7A051C1E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5191-32C7-4D90-A7A3-18B272EEA2FE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74E426-A57A-3682-E571-E8653EE9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3E7706F-D243-AFC6-D7C5-B162EF35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2522C-181D-4A71-8DB8-8853F49E3C2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8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2C1418-F14F-FDBD-0570-E630814B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75B1-7458-49F2-B69B-F5D94466ED9F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2D6A0-FE00-448F-58D5-B51A9F9D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1D47D-F72A-AA5D-8001-C1589EB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553FB-7ADB-41A9-B7EB-C872ABECCDF1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84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BA74B-016D-D9B8-2B0C-2B04C83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BFEF6-68F3-4A89-9AD1-5470280F4BC4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8BAF24-B361-0A1F-06CC-FA2E0B5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6F744-F544-E81F-F2B3-9AF85B83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7BF8C-8CDF-489C-9A49-5B985D2732EA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72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7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4071D2B-B61E-184E-7103-129237AF81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2020E1D-F62F-A1CE-AB98-A89265EF7B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C2C9DE-9BB2-61D7-BAB2-FCDB06158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A1AC42D-45EC-4968-A3B2-7E904D52A6B0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977651-4749-99BC-B2D3-C1DCB553A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F982E-F481-979B-A42F-EA02538FC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767676"/>
                </a:solidFill>
              </a:defRPr>
            </a:lvl1pPr>
          </a:lstStyle>
          <a:p>
            <a:fld id="{EE380E60-B8F9-48F5-9BBB-CB01B607B2F8}" type="slidenum">
              <a:rPr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omments" Target="../comments/comment1.xml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1363F17F-CBF0-C3D5-6B6E-A652184CD19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Box 32">
            <a:extLst>
              <a:ext uri="{FF2B5EF4-FFF2-40B4-BE49-F238E27FC236}">
                <a16:creationId xmlns:a16="http://schemas.microsoft.com/office/drawing/2014/main" id="{3FE59A19-9F1C-000F-1058-19E9E50ADD1D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66725" y="4183063"/>
            <a:ext cx="4335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Лазарев Андрей – 3 курс, ИТТСУ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Левахина Ксения – 3 курс, ИТТСУ</a:t>
            </a: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FED8E283-9887-9B58-72A0-21D604CD1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6738" y="1574800"/>
            <a:ext cx="5226050" cy="1763713"/>
          </a:xfrm>
          <a:prstGeom prst="roundRect">
            <a:avLst>
              <a:gd name="adj" fmla="val 6900"/>
            </a:avLst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3077" name="TextBox 9">
            <a:extLst>
              <a:ext uri="{FF2B5EF4-FFF2-40B4-BE49-F238E27FC236}">
                <a16:creationId xmlns:a16="http://schemas.microsoft.com/office/drawing/2014/main" id="{D336DCE0-A150-5786-33EB-EF73CFE17CAC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25450" y="315913"/>
            <a:ext cx="83185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40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1 ЗАДАНИЕ Технология реверс-инжиниринга</a:t>
            </a:r>
          </a:p>
        </p:txBody>
      </p:sp>
      <p:sp>
        <p:nvSpPr>
          <p:cNvPr id="11" name="Скругленный прямоугольник 85">
            <a:extLst>
              <a:ext uri="{FF2B5EF4-FFF2-40B4-BE49-F238E27FC236}">
                <a16:creationId xmlns:a16="http://schemas.microsoft.com/office/drawing/2014/main" id="{6E3336D4-2AB6-A36C-D69B-B6C40A6250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6125" y="1754188"/>
            <a:ext cx="4867275" cy="1403350"/>
          </a:xfrm>
          <a:prstGeom prst="roundRect">
            <a:avLst>
              <a:gd name="adj" fmla="val 2771"/>
            </a:avLst>
          </a:prstGeom>
          <a:solidFill>
            <a:schemeClr val="bg1"/>
          </a:solidFill>
          <a:ln w="38100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lang="ru-RU" noProof="1">
                <a:solidFill>
                  <a:schemeClr val="bg1">
                    <a:lumMod val="50000"/>
                  </a:schemeClr>
                </a:solidFill>
                <a:latin typeface="Akrobat" panose="00000500000000000000" pitchFamily="50" charset="-52"/>
              </a:rPr>
              <a:t>Логотип заказчика</a:t>
            </a:r>
          </a:p>
        </p:txBody>
      </p:sp>
      <p:sp>
        <p:nvSpPr>
          <p:cNvPr id="3079" name="TextBox 11">
            <a:extLst>
              <a:ext uri="{FF2B5EF4-FFF2-40B4-BE49-F238E27FC236}">
                <a16:creationId xmlns:a16="http://schemas.microsoft.com/office/drawing/2014/main" id="{646DB2D0-077C-2581-20C0-46599ED8F0F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44500" y="3721100"/>
            <a:ext cx="329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КОМАНДА</a:t>
            </a:r>
            <a:r>
              <a:rPr lang="en-US" altLang="ru-RU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0" name="TextBox 30">
            <a:extLst>
              <a:ext uri="{FF2B5EF4-FFF2-40B4-BE49-F238E27FC236}">
                <a16:creationId xmlns:a16="http://schemas.microsoft.com/office/drawing/2014/main" id="{6484AF60-88E8-2047-B55B-15DB07E9BACC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10513" y="4176713"/>
            <a:ext cx="47672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Сидоренко Валентина Геннадьевна – проф., доктор технических наук</a:t>
            </a:r>
            <a:endParaRPr lang="en-US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C</a:t>
            </a:r>
            <a:r>
              <a:rPr lang="ru-RU" altLang="zh-CN" sz="1600" b="1" dirty="0" err="1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афронов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 Антон Игоревич – доцент, кандидат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технических наук</a:t>
            </a:r>
          </a:p>
        </p:txBody>
      </p:sp>
      <p:sp>
        <p:nvSpPr>
          <p:cNvPr id="3081" name="TextBox 17">
            <a:extLst>
              <a:ext uri="{FF2B5EF4-FFF2-40B4-BE49-F238E27FC236}">
                <a16:creationId xmlns:a16="http://schemas.microsoft.com/office/drawing/2014/main" id="{96699EB0-DEB3-FDEF-55C5-C85C4F78236F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10513" y="3721100"/>
            <a:ext cx="3625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НАСТАВНИКИ</a:t>
            </a:r>
            <a:r>
              <a:rPr lang="en-US" altLang="ru-RU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2" name="TextBox 17">
            <a:extLst>
              <a:ext uri="{FF2B5EF4-FFF2-40B4-BE49-F238E27FC236}">
                <a16:creationId xmlns:a16="http://schemas.microsoft.com/office/drawing/2014/main" id="{47A7010F-C402-F5FE-942B-256C1125E89A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67663" y="4733925"/>
            <a:ext cx="3625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b="1" dirty="0">
              <a:solidFill>
                <a:schemeClr val="bg1"/>
              </a:solidFill>
              <a:latin typeface="Akrobat Black" pitchFamily="2" charset="-5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en-US" sz="2400" b="1" dirty="0">
              <a:solidFill>
                <a:schemeClr val="bg1"/>
              </a:solidFill>
              <a:latin typeface="Akrobat Black" pitchFamily="2" charset="-5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2400" b="1" dirty="0">
                <a:solidFill>
                  <a:schemeClr val="bg1"/>
                </a:solidFill>
                <a:latin typeface="Akrobat Black" pitchFamily="2" charset="-52"/>
              </a:rPr>
              <a:t>КАФЕДРА</a:t>
            </a:r>
            <a:r>
              <a:rPr lang="en-US" altLang="en-US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3" name="TextBox 30">
            <a:extLst>
              <a:ext uri="{FF2B5EF4-FFF2-40B4-BE49-F238E27FC236}">
                <a16:creationId xmlns:a16="http://schemas.microsoft.com/office/drawing/2014/main" id="{9AE757F5-A5D2-E9C3-C4CE-46719D44F22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67663" y="5194300"/>
            <a:ext cx="47672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"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Управление и защита информации</a:t>
            </a: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”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 </a:t>
            </a:r>
          </a:p>
        </p:txBody>
      </p:sp>
      <p:pic>
        <p:nvPicPr>
          <p:cNvPr id="3084" name="Рисунок 1">
            <a:extLst>
              <a:ext uri="{FF2B5EF4-FFF2-40B4-BE49-F238E27FC236}">
                <a16:creationId xmlns:a16="http://schemas.microsoft.com/office/drawing/2014/main" id="{9679D281-B9CD-FBC0-D1C8-78479E3E6C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1833563"/>
            <a:ext cx="468630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Овал 38">
            <a:extLst>
              <a:ext uri="{FF2B5EF4-FFF2-40B4-BE49-F238E27FC236}">
                <a16:creationId xmlns:a16="http://schemas.microsoft.com/office/drawing/2014/main" id="{8B509149-C64E-D086-21CC-A49DD6B103B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6" name="Рисунок 33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0C66973-C85B-8AD6-C87B-9128DC86552E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43857354-F8A8-2E53-4DB3-C5F9862B009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8" name="Рисунок 27">
            <a:extLst>
              <a:ext uri="{FF2B5EF4-FFF2-40B4-BE49-F238E27FC236}">
                <a16:creationId xmlns:a16="http://schemas.microsoft.com/office/drawing/2014/main" id="{655ACD81-C1FB-0A61-CD0F-7BC66E6000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08E3B59A-D6FD-7B6C-FAA5-09773995145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90" name="Рисунок 24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D669E5-A011-257D-D60C-6023482BBD3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71FC67-D15C-4B72-B6BB-AF59EDE1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</a:t>
            </a:fld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203B01-56D2-442A-935E-602E0F881D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" y="1602922"/>
            <a:ext cx="6124329" cy="46939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105491-54B4-4241-ADF4-D1BE196600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709" y="1602922"/>
            <a:ext cx="5130775" cy="236709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57B7301-4D08-4646-BBE8-10162DE4C1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323" y="4137825"/>
            <a:ext cx="5179227" cy="13356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1120140" y="449580"/>
            <a:ext cx="5113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C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5631AA-A306-4883-A03F-D11F680D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</a:t>
            </a:fld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02073" y="196850"/>
            <a:ext cx="10851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C#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Транслировали программу с помощью </a:t>
            </a:r>
            <a:r>
              <a:rPr lang="en-US" sz="2800" dirty="0">
                <a:solidFill>
                  <a:schemeClr val="bg1"/>
                </a:solidFill>
              </a:rPr>
              <a:t>https://www.deepseek.com/en/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5F98F1-F54A-48C5-8DB3-FD5F9E9F7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160" y="3976687"/>
            <a:ext cx="5374703" cy="14506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BBC29F-D4F3-43DB-81D5-933A96C671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1" y="1276986"/>
            <a:ext cx="5670550" cy="51053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55699E-6B70-4A0E-89A2-F27EC0CD0D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4957" y="1503196"/>
            <a:ext cx="5531294" cy="217726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E08D20-4955-4B2B-8E2E-91698E8D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78724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495934" y="196850"/>
            <a:ext cx="11435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Python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Транслировали программу с помощью </a:t>
            </a:r>
            <a:r>
              <a:rPr lang="en-US" sz="2800" dirty="0">
                <a:solidFill>
                  <a:schemeClr val="bg1"/>
                </a:solidFill>
              </a:rPr>
              <a:t>https://www.deepseek.com/en/</a:t>
            </a:r>
            <a:endParaRPr lang="ru-RU" sz="28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C3454F-CFB8-4747-B75B-C69C694D98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135" y="1898925"/>
            <a:ext cx="4469176" cy="13308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9C90DD-1760-40E9-8FFD-1AB0AAC866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0" y="1359958"/>
            <a:ext cx="6829475" cy="497310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4701C6E-0123-4984-B4D6-899A9F37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40187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0024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программы на языке С 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  <a:p>
            <a:r>
              <a:rPr lang="ru-RU" sz="2800" dirty="0">
                <a:solidFill>
                  <a:schemeClr val="bg1"/>
                </a:solidFill>
              </a:rPr>
              <a:t>С помощью </a:t>
            </a:r>
            <a:r>
              <a:rPr lang="en-US" sz="2800" i="0" dirty="0">
                <a:solidFill>
                  <a:schemeClr val="bg1"/>
                </a:solidFill>
                <a:effectLst/>
                <a:latin typeface="YS Text"/>
              </a:rPr>
              <a:t>010 Editor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A21528-7A60-4DB5-BAC5-061B70C288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36" y="5194274"/>
            <a:ext cx="4580728" cy="80012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FBA6715-1EEC-4DE1-9653-C1F08806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5</a:t>
            </a:fld>
            <a:endParaRPr lang="ru-RU" alt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B80A82-8F7B-4951-AC6F-5DB246BAC7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4" y="1142325"/>
            <a:ext cx="11844866" cy="3686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7DF929-5E63-4CC8-AC60-7E268D9A21BB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50C44-4EEC-4930-95C9-2A2BD934CB39}"/>
              </a:ext>
            </a:extLst>
          </p:cNvPr>
          <p:cNvSpPr txBox="1"/>
          <p:nvPr/>
        </p:nvSpPr>
        <p:spPr>
          <a:xfrm>
            <a:off x="6942667" y="5334000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743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00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программы на языке С 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6653B4-8DD0-4F90-B947-0F82A108A5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31" y="4723843"/>
            <a:ext cx="5323454" cy="957289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4925B1-C76D-4A7D-AB14-C540B840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6</a:t>
            </a:fld>
            <a:endParaRPr lang="ru-RU" alt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91CC09-2E1E-472B-A953-E6BAD58DB5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785975"/>
            <a:ext cx="11557000" cy="36074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D79687-D648-4CA7-ADFC-15ABAAFD00DA}"/>
              </a:ext>
            </a:extLst>
          </p:cNvPr>
          <p:cNvSpPr txBox="1"/>
          <p:nvPr/>
        </p:nvSpPr>
        <p:spPr>
          <a:xfrm>
            <a:off x="7121903" y="5034801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573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00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программы на языке С</a:t>
            </a:r>
            <a:r>
              <a:rPr lang="en-US" sz="2800" dirty="0">
                <a:solidFill>
                  <a:schemeClr val="bg1"/>
                </a:solidFill>
              </a:rPr>
              <a:t>#</a:t>
            </a:r>
            <a:r>
              <a:rPr lang="ru-RU" sz="2800" dirty="0">
                <a:solidFill>
                  <a:schemeClr val="bg1"/>
                </a:solidFill>
              </a:rPr>
              <a:t> 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37464-AF04-495A-8E81-C737E2F21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5146913"/>
            <a:ext cx="6459816" cy="104830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7C54E1-1386-45F2-AFAB-BF7F90C0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7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F16024-7528-485A-9373-F9BF2072E2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8074"/>
            <a:ext cx="11413067" cy="35684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684AFA-F078-452F-ABD1-39065D1F82B9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1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00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программы на языке С</a:t>
            </a:r>
            <a:r>
              <a:rPr lang="en-US" sz="2800" dirty="0">
                <a:solidFill>
                  <a:schemeClr val="bg1"/>
                </a:solidFill>
              </a:rPr>
              <a:t>#</a:t>
            </a:r>
            <a:r>
              <a:rPr lang="ru-RU" sz="2800" dirty="0">
                <a:solidFill>
                  <a:schemeClr val="bg1"/>
                </a:solidFill>
              </a:rPr>
              <a:t> 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AACDAB-A37C-448B-AB77-C8B12BBC54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61" y="4940273"/>
            <a:ext cx="5357544" cy="94406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610A82-51FD-47E4-933A-EF7B6BAF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8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27698D-08F3-44B8-9789-57303FE8B2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66" y="973667"/>
            <a:ext cx="11667067" cy="36478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F41B4E-CD00-4786-873A-A075975A4AC3}"/>
              </a:ext>
            </a:extLst>
          </p:cNvPr>
          <p:cNvSpPr txBox="1"/>
          <p:nvPr/>
        </p:nvSpPr>
        <p:spPr>
          <a:xfrm>
            <a:off x="7442200" y="5238002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865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Python</a:t>
            </a:r>
            <a:r>
              <a:rPr lang="ru-RU" sz="2800" dirty="0">
                <a:solidFill>
                  <a:schemeClr val="bg1"/>
                </a:solidFill>
              </a:rPr>
              <a:t> 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BFEE47-8AB0-4FE3-8081-5FEE6368E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52" y="4861430"/>
            <a:ext cx="6147904" cy="97210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047AD6B-A5C2-43A3-8BA6-A83E1533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9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7659DB-11AB-4D66-923B-AF486A1EEC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904940"/>
            <a:ext cx="11531600" cy="36055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5063D4-12BC-42E2-9999-386EB9148102}"/>
              </a:ext>
            </a:extLst>
          </p:cNvPr>
          <p:cNvSpPr txBox="1"/>
          <p:nvPr/>
        </p:nvSpPr>
        <p:spPr>
          <a:xfrm>
            <a:off x="7629903" y="5024316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9011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Python</a:t>
            </a:r>
            <a:r>
              <a:rPr lang="ru-RU" sz="2800" dirty="0">
                <a:solidFill>
                  <a:schemeClr val="bg1"/>
                </a:solidFill>
              </a:rPr>
              <a:t> 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BCEF8B-E096-4C1D-83EA-624CDE92C0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56" y="4836554"/>
            <a:ext cx="5369996" cy="100544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CDB513-0354-4E85-BB4C-D2C79AE6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10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2782C2-47DD-4B02-8766-513267CCD6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016001"/>
            <a:ext cx="11353800" cy="35558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1256DF-4174-430A-9B71-8E4198FAABD8}"/>
              </a:ext>
            </a:extLst>
          </p:cNvPr>
          <p:cNvSpPr txBox="1"/>
          <p:nvPr/>
        </p:nvSpPr>
        <p:spPr>
          <a:xfrm>
            <a:off x="7541003" y="5016110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8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Изображение в двух форматах в 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>
                <a:solidFill>
                  <a:schemeClr val="bg1"/>
                </a:solidFill>
              </a:rPr>
              <a:t>png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.bmp3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https://convertio.co/ru/image-converter/?ysclid=mlj6j7rhiw771248856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C769AE-B7A9-4231-964D-9BC993F53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666" y="1717794"/>
            <a:ext cx="4785102" cy="496134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F25D3FE-AF58-4F0E-AF34-7F6C55E1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671420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изображения .</a:t>
            </a:r>
            <a:r>
              <a:rPr lang="en-US" sz="2800" dirty="0" err="1">
                <a:solidFill>
                  <a:schemeClr val="bg1"/>
                </a:solidFill>
              </a:rPr>
              <a:t>png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92EDD8-1DD8-466B-866E-847DB0A7D7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851" y="4932866"/>
            <a:ext cx="5009736" cy="84986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84E8099-533A-4AF6-B63A-E28854BC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12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97CF79-8A6F-48AE-B4F3-64002E73CD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66" y="947348"/>
            <a:ext cx="11692467" cy="36394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F34F25-9E6D-4F69-AC38-3C25BCBBAE86}"/>
              </a:ext>
            </a:extLst>
          </p:cNvPr>
          <p:cNvSpPr txBox="1"/>
          <p:nvPr/>
        </p:nvSpPr>
        <p:spPr>
          <a:xfrm>
            <a:off x="7399867" y="5208369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68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изображения .</a:t>
            </a:r>
            <a:r>
              <a:rPr lang="en-US" sz="2800" dirty="0" err="1">
                <a:solidFill>
                  <a:schemeClr val="bg1"/>
                </a:solidFill>
              </a:rPr>
              <a:t>png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A489C6B-FD7B-4ED8-9BDF-3C25CBEEC3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81" y="4943977"/>
            <a:ext cx="6081669" cy="111815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152C82-D60E-41C0-9504-D813EF69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13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1A1237-1DF1-4963-942D-504B75EC9D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795867"/>
            <a:ext cx="11827933" cy="36796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12B09C-3FCE-4A98-A86E-F94881643AA9}"/>
              </a:ext>
            </a:extLst>
          </p:cNvPr>
          <p:cNvSpPr txBox="1"/>
          <p:nvPr/>
        </p:nvSpPr>
        <p:spPr>
          <a:xfrm>
            <a:off x="7526867" y="5179889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7456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текст. документа .</a:t>
            </a:r>
            <a:r>
              <a:rPr lang="en-US" sz="2800" dirty="0">
                <a:solidFill>
                  <a:schemeClr val="bg1"/>
                </a:solidFill>
              </a:rPr>
              <a:t>bmp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62367EF-3B5A-4F62-A7FA-D6D4E28B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14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D3F1AC-22B0-4EB1-AA69-E09AC00599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35841"/>
            <a:ext cx="11582400" cy="36331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A182FD-77E1-41E7-B5FD-A333381BD4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663" y="5341106"/>
            <a:ext cx="4874067" cy="8226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DD7D7F-9D3F-41A1-98D7-D961220FA970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3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текст. документа .</a:t>
            </a:r>
            <a:r>
              <a:rPr lang="en-US" sz="2800" dirty="0">
                <a:solidFill>
                  <a:schemeClr val="bg1"/>
                </a:solidFill>
              </a:rPr>
              <a:t>bmp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62367EF-3B5A-4F62-A7FA-D6D4E28B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15</a:t>
            </a:fld>
            <a:endParaRPr lang="ru-RU" alt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F977A2-9AC7-47B5-9081-F5AC545603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34" y="1205999"/>
            <a:ext cx="11582400" cy="363345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3329FD8-1C0C-47A9-A922-75EA786772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19" y="5456711"/>
            <a:ext cx="5581498" cy="9779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7129E9-8434-425E-AE3A-B4EA1B220BCC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8763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6872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Аудиофайл в двух форматах - .</a:t>
            </a:r>
            <a:r>
              <a:rPr lang="en-US" sz="2800" dirty="0">
                <a:solidFill>
                  <a:schemeClr val="bg1"/>
                </a:solidFill>
              </a:rPr>
              <a:t>mp3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.wav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5BF6D8-7E34-4756-B6D6-64DF6CCCF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55" y="1171526"/>
            <a:ext cx="5752296" cy="12668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3604B1-9BCF-4EC2-9BC7-54C7AC76A7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452" y="3050065"/>
            <a:ext cx="7261670" cy="103933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A72C1AD-3C83-4E3A-BF6B-E2D1C964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536558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аудио .</a:t>
            </a:r>
            <a:r>
              <a:rPr lang="en-US" sz="2800" dirty="0">
                <a:solidFill>
                  <a:schemeClr val="bg1"/>
                </a:solidFill>
              </a:rPr>
              <a:t>mp3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D68556-61E7-41F0-9DC2-0DF968F6DE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18" y="5121776"/>
            <a:ext cx="4351184" cy="79642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B11D651-BCCD-4D01-B098-60D4AB2E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17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A55AFB-3350-4D85-A7E2-4DD5AA80EB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33" y="861558"/>
            <a:ext cx="11777133" cy="36515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6BB536-03B1-4105-8649-31B356CF0C9C}"/>
              </a:ext>
            </a:extLst>
          </p:cNvPr>
          <p:cNvSpPr txBox="1"/>
          <p:nvPr/>
        </p:nvSpPr>
        <p:spPr>
          <a:xfrm>
            <a:off x="7010400" y="5051565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989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аудио .</a:t>
            </a:r>
            <a:r>
              <a:rPr lang="en-US" sz="2800" dirty="0">
                <a:solidFill>
                  <a:schemeClr val="bg1"/>
                </a:solidFill>
              </a:rPr>
              <a:t>mp3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856334-38E3-405A-A6C7-15421CAA72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77" y="5021236"/>
            <a:ext cx="5009405" cy="88003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743619-53C8-4E9D-99F0-568431C0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18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61DC76-1D0B-44B7-A520-4FE4C4126D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22" y="1067921"/>
            <a:ext cx="11736756" cy="36818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C1E599-0F39-4BF9-8B34-D910F4A83675}"/>
              </a:ext>
            </a:extLst>
          </p:cNvPr>
          <p:cNvSpPr txBox="1"/>
          <p:nvPr/>
        </p:nvSpPr>
        <p:spPr>
          <a:xfrm>
            <a:off x="6663267" y="5208369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2714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аудио .</a:t>
            </a:r>
            <a:r>
              <a:rPr lang="en-US" sz="2800" dirty="0">
                <a:solidFill>
                  <a:schemeClr val="bg1"/>
                </a:solidFill>
              </a:rPr>
              <a:t>wav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07C4FB-C6B8-451C-AF37-DB6746589D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47" y="5084206"/>
            <a:ext cx="4885524" cy="87632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70EA995-91C1-4F4C-B90C-3A7405F5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19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0C19F7-A939-4B3D-93C8-445315BB1A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3" y="897467"/>
            <a:ext cx="11599333" cy="36486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A6C453-1FDD-4A3D-B012-1C3FAFAD8F78}"/>
              </a:ext>
            </a:extLst>
          </p:cNvPr>
          <p:cNvSpPr txBox="1"/>
          <p:nvPr/>
        </p:nvSpPr>
        <p:spPr>
          <a:xfrm>
            <a:off x="7121903" y="5084206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3950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аудио .</a:t>
            </a:r>
            <a:r>
              <a:rPr lang="en-US" sz="2800" dirty="0">
                <a:solidFill>
                  <a:schemeClr val="bg1"/>
                </a:solidFill>
              </a:rPr>
              <a:t>wav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60FDBF-8EFB-4DF9-858C-2802F63F16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43" y="4971495"/>
            <a:ext cx="4715024" cy="78583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64C11D-2F49-4675-B83E-98ED6EF8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20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170AB8-DB93-4C87-817B-B2F4D5F01C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26650"/>
            <a:ext cx="11734800" cy="36629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69869F-1420-4ED4-A81E-9434663EEE71}"/>
              </a:ext>
            </a:extLst>
          </p:cNvPr>
          <p:cNvSpPr txBox="1"/>
          <p:nvPr/>
        </p:nvSpPr>
        <p:spPr>
          <a:xfrm>
            <a:off x="6969048" y="5111001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5287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59156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Электронная таблица в двух форматах</a:t>
            </a:r>
            <a:r>
              <a:rPr lang="en-US" sz="2800" dirty="0">
                <a:solidFill>
                  <a:schemeClr val="bg1"/>
                </a:solidFill>
              </a:rPr>
              <a:t> .xlsx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>
                <a:solidFill>
                  <a:schemeClr val="bg1"/>
                </a:solidFill>
              </a:rPr>
              <a:t>xlsm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85C793-B77F-495B-8F2C-BB5CC99BB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39" y="1673953"/>
            <a:ext cx="3935794" cy="42212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E11F2D-B94D-4BFB-9E6C-F571089AA6B6}"/>
              </a:ext>
            </a:extLst>
          </p:cNvPr>
          <p:cNvSpPr txBox="1"/>
          <p:nvPr/>
        </p:nvSpPr>
        <p:spPr>
          <a:xfrm>
            <a:off x="6310208" y="331046"/>
            <a:ext cx="4848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Текстовый документ в двух форматах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  <a:r>
              <a:rPr lang="en-US" sz="2800" dirty="0">
                <a:solidFill>
                  <a:schemeClr val="bg1"/>
                </a:solidFill>
              </a:rPr>
              <a:t>docx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en-US" sz="2800" dirty="0">
                <a:solidFill>
                  <a:schemeClr val="bg1"/>
                </a:solidFill>
              </a:rPr>
              <a:t>.txt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AB100DC-A052-49F0-9538-5A64902D79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899" y="1859667"/>
            <a:ext cx="7070968" cy="47208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225080B-CA9D-4C97-A4E5-0C0B27ED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95787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эл. </a:t>
            </a:r>
            <a:r>
              <a:rPr lang="ru-RU" sz="2800" dirty="0" err="1">
                <a:solidFill>
                  <a:schemeClr val="bg1"/>
                </a:solidFill>
              </a:rPr>
              <a:t>табл</a:t>
            </a:r>
            <a:r>
              <a:rPr lang="ru-RU" sz="2800" dirty="0">
                <a:solidFill>
                  <a:schemeClr val="bg1"/>
                </a:solidFill>
              </a:rPr>
              <a:t> .</a:t>
            </a:r>
            <a:r>
              <a:rPr lang="en-US" sz="2800" dirty="0">
                <a:solidFill>
                  <a:schemeClr val="bg1"/>
                </a:solidFill>
              </a:rPr>
              <a:t>xlsx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292975-7864-4807-93AA-A408657D1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46" y="5113308"/>
            <a:ext cx="5200906" cy="91912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B131F6-4A4A-4095-9FA5-80A7C232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22</a:t>
            </a:fld>
            <a:endParaRPr lang="ru-RU" alt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C9E1F0-FCB2-43BA-997E-9B4F1C2692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7" y="1139894"/>
            <a:ext cx="11616267" cy="36198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41C944-0CAD-4622-B98B-A23A06989948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8058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эл. </a:t>
            </a:r>
            <a:r>
              <a:rPr lang="ru-RU" sz="2800" dirty="0" err="1">
                <a:solidFill>
                  <a:schemeClr val="bg1"/>
                </a:solidFill>
              </a:rPr>
              <a:t>табл</a:t>
            </a:r>
            <a:r>
              <a:rPr lang="ru-RU" sz="2800" dirty="0">
                <a:solidFill>
                  <a:schemeClr val="bg1"/>
                </a:solidFill>
              </a:rPr>
              <a:t> .</a:t>
            </a:r>
            <a:r>
              <a:rPr lang="en-US" sz="2800" dirty="0">
                <a:solidFill>
                  <a:schemeClr val="bg1"/>
                </a:solidFill>
              </a:rPr>
              <a:t>xlsx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F644A2-FB87-4C74-B9FF-5EE5674DCA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115" y="5101140"/>
            <a:ext cx="4876110" cy="8371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EF79B01-3238-4E62-8CCD-84D3C7BC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23</a:t>
            </a:fld>
            <a:endParaRPr lang="ru-RU" alt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ECA4E4B-AAD5-4718-B553-B86A3A25ED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33" y="1091207"/>
            <a:ext cx="11582400" cy="36213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E4BD1E-E7D0-49BB-8933-8C6A68B755D2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8811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эл. </a:t>
            </a:r>
            <a:r>
              <a:rPr lang="ru-RU" sz="2800" dirty="0" err="1">
                <a:solidFill>
                  <a:schemeClr val="bg1"/>
                </a:solidFill>
              </a:rPr>
              <a:t>табл</a:t>
            </a:r>
            <a:r>
              <a:rPr lang="ru-RU" sz="2800" dirty="0">
                <a:solidFill>
                  <a:schemeClr val="bg1"/>
                </a:solidFill>
              </a:rPr>
              <a:t> .</a:t>
            </a:r>
            <a:r>
              <a:rPr lang="en-US" sz="2800" dirty="0" err="1">
                <a:solidFill>
                  <a:schemeClr val="bg1"/>
                </a:solidFill>
              </a:rPr>
              <a:t>xlsm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86F4C2E-90A0-4FAC-A85E-033FCCF5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24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E3425C-A28B-49F2-ABCF-B4787B73A2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775" y="5109606"/>
            <a:ext cx="5354161" cy="92712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AE47B7-AAE3-4526-A8D3-A1B3399B18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915095"/>
            <a:ext cx="11811000" cy="36928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B613F7-C645-41EA-988D-2567E00E8239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73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эл. </a:t>
            </a:r>
            <a:r>
              <a:rPr lang="ru-RU" sz="2800" dirty="0" err="1">
                <a:solidFill>
                  <a:schemeClr val="bg1"/>
                </a:solidFill>
              </a:rPr>
              <a:t>табл</a:t>
            </a:r>
            <a:r>
              <a:rPr lang="ru-RU" sz="2800" dirty="0">
                <a:solidFill>
                  <a:schemeClr val="bg1"/>
                </a:solidFill>
              </a:rPr>
              <a:t> .</a:t>
            </a:r>
            <a:r>
              <a:rPr lang="en-US" sz="2800" dirty="0" err="1">
                <a:solidFill>
                  <a:schemeClr val="bg1"/>
                </a:solidFill>
              </a:rPr>
              <a:t>xlsm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9AC223-0AB3-4127-A20F-625089CE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25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B1AA85-9638-489D-9C83-F86D5BE8BE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12" y="5058806"/>
            <a:ext cx="6605007" cy="11387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5E799B-935B-4297-AAD8-79E0EF2AB4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29" y="913542"/>
            <a:ext cx="11692467" cy="36436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82A73B-80BB-452F-95F8-DB8802C80E1F}"/>
              </a:ext>
            </a:extLst>
          </p:cNvPr>
          <p:cNvSpPr txBox="1"/>
          <p:nvPr/>
        </p:nvSpPr>
        <p:spPr>
          <a:xfrm>
            <a:off x="7866251" y="5305037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2077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текст. документа .</a:t>
            </a:r>
            <a:r>
              <a:rPr lang="en-US" sz="2800" dirty="0">
                <a:solidFill>
                  <a:schemeClr val="bg1"/>
                </a:solidFill>
              </a:rPr>
              <a:t>txt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EC929E-EF58-49C6-B353-58B1908B07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37" y="5173636"/>
            <a:ext cx="5645485" cy="92123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6AD10C-2005-4446-AB5C-219977E8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26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8A3E94-D74A-4932-BCDD-FCE0A7BB75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67" y="1089172"/>
            <a:ext cx="11836400" cy="36718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844497-1058-43EC-B2F7-76F22F11B065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3530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текст. документа .</a:t>
            </a:r>
            <a:r>
              <a:rPr lang="en-US" sz="2800" dirty="0">
                <a:solidFill>
                  <a:schemeClr val="bg1"/>
                </a:solidFill>
              </a:rPr>
              <a:t>txt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BBEE13-6928-4CCB-B5FF-67B2D08FD4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606" y="5218614"/>
            <a:ext cx="5361112" cy="97898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1C8B4E5-7531-4E6E-9CA6-179ADFB0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27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595873-4AF8-456E-8242-C73A4D39C6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29" y="1027931"/>
            <a:ext cx="11514667" cy="35757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FCF94E-23ED-40AD-845D-34A8C79FF5BB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579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текст. документа .</a:t>
            </a:r>
            <a:r>
              <a:rPr lang="en-US" sz="2800" dirty="0">
                <a:solidFill>
                  <a:schemeClr val="bg1"/>
                </a:solidFill>
              </a:rPr>
              <a:t>docx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неупак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E39B3E-914A-4CE3-9308-A3B1D81F45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760" y="4981935"/>
            <a:ext cx="6686478" cy="104830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62367EF-3B5A-4F62-A7FA-D6D4E28B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28</a:t>
            </a:fld>
            <a:endParaRPr lang="ru-RU" alt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F7828A-4099-4790-B376-6965009EED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33" y="827762"/>
            <a:ext cx="11751733" cy="36743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A8846D-E8B6-42C3-B769-8213A3A9039E}"/>
              </a:ext>
            </a:extLst>
          </p:cNvPr>
          <p:cNvSpPr txBox="1"/>
          <p:nvPr/>
        </p:nvSpPr>
        <p:spPr>
          <a:xfrm>
            <a:off x="7866251" y="5182920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7393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360729" y="1193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Гистограмма и энтропия текст. документа .</a:t>
            </a:r>
            <a:r>
              <a:rPr lang="en-US" sz="2800" dirty="0">
                <a:solidFill>
                  <a:schemeClr val="bg1"/>
                </a:solidFill>
              </a:rPr>
              <a:t>docx </a:t>
            </a:r>
            <a:r>
              <a:rPr lang="ru-RU" sz="2800" dirty="0">
                <a:solidFill>
                  <a:schemeClr val="bg1"/>
                </a:solidFill>
              </a:rPr>
              <a:t>(</a:t>
            </a:r>
            <a:r>
              <a:rPr lang="ru-RU" sz="2800" dirty="0" err="1">
                <a:solidFill>
                  <a:schemeClr val="bg1"/>
                </a:solidFill>
              </a:rPr>
              <a:t>упак</a:t>
            </a:r>
            <a:r>
              <a:rPr lang="ru-RU" sz="2800" dirty="0">
                <a:solidFill>
                  <a:schemeClr val="bg1"/>
                </a:solidFill>
              </a:rPr>
              <a:t> файл)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62367EF-3B5A-4F62-A7FA-D6D4E28B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29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ABA6CD-ECE0-4430-BF2E-D8574A5B49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20" y="1006540"/>
            <a:ext cx="11620160" cy="36331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C78783-1FE5-4F51-8809-042CF36340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975" y="5237665"/>
            <a:ext cx="5886857" cy="9684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737854-4185-49ED-9F01-74C5446D2C77}"/>
              </a:ext>
            </a:extLst>
          </p:cNvPr>
          <p:cNvSpPr txBox="1"/>
          <p:nvPr/>
        </p:nvSpPr>
        <p:spPr>
          <a:xfrm>
            <a:off x="7501467" y="5347898"/>
            <a:ext cx="423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Значение энтропии, посчитанное с помощью </a:t>
            </a:r>
            <a:r>
              <a:rPr lang="en-US" i="0" dirty="0">
                <a:solidFill>
                  <a:srgbClr val="333333"/>
                </a:solidFill>
                <a:effectLst/>
                <a:latin typeface="YS Text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7531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194733" y="4749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Таблица расчета энтропии и размеров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8EFBE6-C894-4A89-9CA3-CA723BA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30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C5FA7D-B0DC-4868-98B4-ECEEE5F11E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66" y="1704014"/>
            <a:ext cx="11895667" cy="31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47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6872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Выводы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2A006-0A85-4B28-9C6E-B918AAA1019D}"/>
              </a:ext>
            </a:extLst>
          </p:cNvPr>
          <p:cNvSpPr txBox="1"/>
          <p:nvPr/>
        </p:nvSpPr>
        <p:spPr>
          <a:xfrm>
            <a:off x="770467" y="1693333"/>
            <a:ext cx="10439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Неупакованные файлы программ на всех  3 языках программирования имеют неравномерное распределение байтов, их энтропия ниже максимальной, в то время как у упакованных файлов распределение байтов становится более </a:t>
            </a:r>
            <a:r>
              <a:rPr lang="en-US" dirty="0"/>
              <a:t>“</a:t>
            </a:r>
            <a:r>
              <a:rPr lang="ru-RU" dirty="0"/>
              <a:t>гладким</a:t>
            </a:r>
            <a:r>
              <a:rPr lang="en-US" dirty="0"/>
              <a:t>”</a:t>
            </a:r>
            <a:r>
              <a:rPr lang="ru-RU" dirty="0"/>
              <a:t>, энтропия увеличивается, размер уменьшается. </a:t>
            </a:r>
          </a:p>
          <a:p>
            <a:pPr marL="342900" indent="-342900">
              <a:buAutoNum type="arabicPeriod"/>
            </a:pPr>
            <a:r>
              <a:rPr lang="ru-RU" dirty="0"/>
              <a:t>Энтропия текстовых документов не имеет смысла, в связи с тем, что, например, текстовый документ </a:t>
            </a:r>
            <a:r>
              <a:rPr lang="en-US" dirty="0"/>
              <a:t>.docx </a:t>
            </a:r>
            <a:r>
              <a:rPr lang="ru-RU" dirty="0"/>
              <a:t>формата уже является архивом.</a:t>
            </a:r>
          </a:p>
          <a:p>
            <a:pPr marL="342900" indent="-342900">
              <a:buFontTx/>
              <a:buAutoNum type="arabicPeriod"/>
            </a:pPr>
            <a:r>
              <a:rPr lang="ru-RU" dirty="0"/>
              <a:t>Электронные таблицы</a:t>
            </a:r>
            <a:r>
              <a:rPr lang="en-US" dirty="0"/>
              <a:t>: </a:t>
            </a:r>
            <a:r>
              <a:rPr lang="ru-RU" dirty="0"/>
              <a:t>оба представленных формата относительно новые, они уже используют встроенное ZIP-сжатие. На графике видно, что гистограммы исходных файлов близки к равномерным, энтропия меняется незначительно. Изображения</a:t>
            </a:r>
            <a:r>
              <a:rPr lang="en-US" dirty="0"/>
              <a:t>: </a:t>
            </a:r>
            <a:r>
              <a:rPr lang="ru-RU" dirty="0"/>
              <a:t>изменения малозначительны. В данном случае упаковка не влияет на файл, энтропия остается высокой.</a:t>
            </a:r>
          </a:p>
          <a:p>
            <a:pPr marL="342900" indent="-342900">
              <a:buAutoNum type="arabicPeriod"/>
            </a:pPr>
            <a:r>
              <a:rPr lang="ru-RU" dirty="0"/>
              <a:t>Аудиофайл </a:t>
            </a:r>
            <a:r>
              <a:rPr lang="en-US" dirty="0"/>
              <a:t>.mp3 </a:t>
            </a:r>
            <a:r>
              <a:rPr lang="ru-RU" dirty="0"/>
              <a:t>уже является сжатым форматом, поэтому упаковка является неэффективной, здесь можно предсказать следующее.</a:t>
            </a:r>
          </a:p>
          <a:p>
            <a:pPr marL="342900" indent="-342900">
              <a:buFontTx/>
              <a:buAutoNum type="arabicPeriod"/>
            </a:pPr>
            <a:r>
              <a:rPr lang="ru-RU" dirty="0"/>
              <a:t>Аудиофайл </a:t>
            </a:r>
            <a:r>
              <a:rPr lang="en-US" dirty="0"/>
              <a:t>.wav – </a:t>
            </a:r>
            <a:r>
              <a:rPr lang="ru-RU" dirty="0"/>
              <a:t>заметно уменьшился размер файла. После упаковки более </a:t>
            </a:r>
            <a:r>
              <a:rPr lang="en-US" dirty="0"/>
              <a:t>“</a:t>
            </a:r>
            <a:r>
              <a:rPr lang="ru-RU" dirty="0"/>
              <a:t>гладкая</a:t>
            </a:r>
            <a:r>
              <a:rPr lang="en-US" dirty="0"/>
              <a:t>”</a:t>
            </a:r>
            <a:r>
              <a:rPr lang="ru-RU" dirty="0"/>
              <a:t> гистограмма. Энтропия увеличивается</a:t>
            </a:r>
            <a:r>
              <a:rPr lang="en-US" dirty="0"/>
              <a:t> </a:t>
            </a: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4322CB-B61A-4DDC-8A8C-845EE184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31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14927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1179</TotalTime>
  <Words>779</Words>
  <Application>Microsoft Office PowerPoint</Application>
  <PresentationFormat>Широкоэкранный</PresentationFormat>
  <Paragraphs>143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8" baseType="lpstr">
      <vt:lpstr>YS Text</vt:lpstr>
      <vt:lpstr>Aptos Display</vt:lpstr>
      <vt:lpstr>Akrobat Black</vt:lpstr>
      <vt:lpstr>Akrobat</vt:lpstr>
      <vt:lpstr>Arial</vt:lpstr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Xiaomi</dc:creator>
  <cp:lastModifiedBy>Левахина Ксения Сергеевна</cp:lastModifiedBy>
  <cp:revision>160</cp:revision>
  <dcterms:created xsi:type="dcterms:W3CDTF">2024-09-10T07:53:00Z</dcterms:created>
  <dcterms:modified xsi:type="dcterms:W3CDTF">2026-02-12T09:52:31Z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85F69DFBD54D4A58BC3CE05CEB498B89_13</vt:lpwstr>
  </property>
  <property fmtid="{D5CDD505-2E9C-101B-9397-08002B2CF9AE}" pid="3" name="KSOProductBuildVer">
    <vt:lpwstr>1049-12.2.0.18911</vt:lpwstr>
  </property>
</Properties>
</file>